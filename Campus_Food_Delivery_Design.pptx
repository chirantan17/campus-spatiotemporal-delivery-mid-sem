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9" r:id="rId5"/>
    <p:sldId id="259" r:id="rId6"/>
    <p:sldId id="261" r:id="rId7"/>
    <p:sldId id="262" r:id="rId8"/>
    <p:sldId id="277" r:id="rId9"/>
    <p:sldId id="266" r:id="rId10"/>
    <p:sldId id="267" r:id="rId11"/>
    <p:sldId id="268" r:id="rId12"/>
    <p:sldId id="269" r:id="rId13"/>
    <p:sldId id="270" r:id="rId14"/>
    <p:sldId id="272" r:id="rId15"/>
    <p:sldId id="273" r:id="rId16"/>
    <p:sldId id="27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9E0D32-5763-4595-9D15-D7DBBA805D55}" v="19" dt="2026-10-13T11:56:36.9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564" autoAdjust="0"/>
  </p:normalViewPr>
  <p:slideViewPr>
    <p:cSldViewPr snapToGrid="0" snapToObjects="1">
      <p:cViewPr varScale="1">
        <p:scale>
          <a:sx n="85" d="100"/>
          <a:sy n="85" d="100"/>
        </p:scale>
        <p:origin x="398" y="5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rantan Ghosh" userId="32ef30927a24f033" providerId="LiveId" clId="{AFA562B7-134C-426C-9988-6B734D111CBE}"/>
    <pc:docChg chg="undo custSel addSld delSld modSld sldOrd">
      <pc:chgData name="Chirantan Ghosh" userId="32ef30927a24f033" providerId="LiveId" clId="{AFA562B7-134C-426C-9988-6B734D111CBE}" dt="2026-10-14T06:34:42.326" v="911" actId="47"/>
      <pc:docMkLst>
        <pc:docMk/>
      </pc:docMkLst>
      <pc:sldChg chg="delSp modSp mod">
        <pc:chgData name="Chirantan Ghosh" userId="32ef30927a24f033" providerId="LiveId" clId="{AFA562B7-134C-426C-9988-6B734D111CBE}" dt="2026-10-13T09:00:20.950" v="390" actId="1035"/>
        <pc:sldMkLst>
          <pc:docMk/>
          <pc:sldMk cId="0" sldId="256"/>
        </pc:sldMkLst>
        <pc:spChg chg="mod">
          <ac:chgData name="Chirantan Ghosh" userId="32ef30927a24f033" providerId="LiveId" clId="{AFA562B7-134C-426C-9988-6B734D111CBE}" dt="2026-10-13T09:00:20.950" v="390" actId="1035"/>
          <ac:spMkLst>
            <pc:docMk/>
            <pc:sldMk cId="0" sldId="256"/>
            <ac:spMk id="5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00:20.950" v="390" actId="1035"/>
          <ac:spMkLst>
            <pc:docMk/>
            <pc:sldMk cId="0" sldId="256"/>
            <ac:spMk id="6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00:20.950" v="390" actId="1035"/>
          <ac:spMkLst>
            <pc:docMk/>
            <pc:sldMk cId="0" sldId="256"/>
            <ac:spMk id="7" creationId="{00000000-0000-0000-0000-000000000000}"/>
          </ac:spMkLst>
        </pc:spChg>
        <pc:spChg chg="del">
          <ac:chgData name="Chirantan Ghosh" userId="32ef30927a24f033" providerId="LiveId" clId="{AFA562B7-134C-426C-9988-6B734D111CBE}" dt="2026-10-13T08:10:10.551" v="0" actId="478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Chirantan Ghosh" userId="32ef30927a24f033" providerId="LiveId" clId="{AFA562B7-134C-426C-9988-6B734D111CBE}" dt="2026-10-13T09:00:15.913" v="388"/>
          <ac:spMkLst>
            <pc:docMk/>
            <pc:sldMk cId="0" sldId="256"/>
            <ac:spMk id="9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00:20.950" v="390" actId="1035"/>
          <ac:spMkLst>
            <pc:docMk/>
            <pc:sldMk cId="0" sldId="256"/>
            <ac:spMk id="11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00:20.950" v="390" actId="1035"/>
          <ac:spMkLst>
            <pc:docMk/>
            <pc:sldMk cId="0" sldId="256"/>
            <ac:spMk id="15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00:20.950" v="390" actId="1035"/>
          <ac:spMkLst>
            <pc:docMk/>
            <pc:sldMk cId="0" sldId="256"/>
            <ac:spMk id="16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00:20.950" v="390" actId="1035"/>
          <ac:spMkLst>
            <pc:docMk/>
            <pc:sldMk cId="0" sldId="256"/>
            <ac:spMk id="17" creationId="{00000000-0000-0000-0000-000000000000}"/>
          </ac:spMkLst>
        </pc:spChg>
      </pc:sldChg>
      <pc:sldChg chg="modSp mod">
        <pc:chgData name="Chirantan Ghosh" userId="32ef30927a24f033" providerId="LiveId" clId="{AFA562B7-134C-426C-9988-6B734D111CBE}" dt="2026-10-13T11:50:17.251" v="739" actId="20577"/>
        <pc:sldMkLst>
          <pc:docMk/>
          <pc:sldMk cId="0" sldId="257"/>
        </pc:sldMkLst>
        <pc:spChg chg="mod">
          <ac:chgData name="Chirantan Ghosh" userId="32ef30927a24f033" providerId="LiveId" clId="{AFA562B7-134C-426C-9988-6B734D111CBE}" dt="2026-10-13T09:01:31.782" v="393" actId="14100"/>
          <ac:spMkLst>
            <pc:docMk/>
            <pc:sldMk cId="0" sldId="257"/>
            <ac:spMk id="12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02:25.292" v="477" actId="14100"/>
          <ac:spMkLst>
            <pc:docMk/>
            <pc:sldMk cId="0" sldId="257"/>
            <ac:spMk id="13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02:29.613" v="478" actId="14100"/>
          <ac:spMkLst>
            <pc:docMk/>
            <pc:sldMk cId="0" sldId="257"/>
            <ac:spMk id="14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04:15.715" v="517" actId="255"/>
          <ac:spMkLst>
            <pc:docMk/>
            <pc:sldMk cId="0" sldId="257"/>
            <ac:spMk id="21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11:50:17.251" v="739" actId="20577"/>
          <ac:spMkLst>
            <pc:docMk/>
            <pc:sldMk cId="0" sldId="257"/>
            <ac:spMk id="26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03:06.869" v="498" actId="20577"/>
          <ac:spMkLst>
            <pc:docMk/>
            <pc:sldMk cId="0" sldId="257"/>
            <ac:spMk id="29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03:27.967" v="510" actId="20577"/>
          <ac:spMkLst>
            <pc:docMk/>
            <pc:sldMk cId="0" sldId="257"/>
            <ac:spMk id="32" creationId="{00000000-0000-0000-0000-000000000000}"/>
          </ac:spMkLst>
        </pc:spChg>
      </pc:sldChg>
      <pc:sldChg chg="addSp modSp mod">
        <pc:chgData name="Chirantan Ghosh" userId="32ef30927a24f033" providerId="LiveId" clId="{AFA562B7-134C-426C-9988-6B734D111CBE}" dt="2026-10-13T09:11:15.378" v="713" actId="255"/>
        <pc:sldMkLst>
          <pc:docMk/>
          <pc:sldMk cId="0" sldId="258"/>
        </pc:sldMkLst>
        <pc:spChg chg="mod">
          <ac:chgData name="Chirantan Ghosh" userId="32ef30927a24f033" providerId="LiveId" clId="{AFA562B7-134C-426C-9988-6B734D111CBE}" dt="2026-10-13T09:05:24.492" v="523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10:59.742" v="711" actId="20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10:16.511" v="706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10:16.811" v="707" actId="2057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09:34.137" v="683" actId="6549"/>
          <ac:spMkLst>
            <pc:docMk/>
            <pc:sldMk cId="0" sldId="258"/>
            <ac:spMk id="16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09:03.095" v="667" actId="20577"/>
          <ac:spMkLst>
            <pc:docMk/>
            <pc:sldMk cId="0" sldId="258"/>
            <ac:spMk id="17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08:46.053" v="661" actId="12"/>
          <ac:spMkLst>
            <pc:docMk/>
            <pc:sldMk cId="0" sldId="258"/>
            <ac:spMk id="18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10:06.738" v="703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11:15.378" v="713" actId="255"/>
          <ac:spMkLst>
            <pc:docMk/>
            <pc:sldMk cId="0" sldId="258"/>
            <ac:spMk id="21" creationId="{00000000-0000-0000-0000-000000000000}"/>
          </ac:spMkLst>
        </pc:spChg>
        <pc:spChg chg="add mod">
          <ac:chgData name="Chirantan Ghosh" userId="32ef30927a24f033" providerId="LiveId" clId="{AFA562B7-134C-426C-9988-6B734D111CBE}" dt="2026-10-13T09:07:52.234" v="619" actId="571"/>
          <ac:spMkLst>
            <pc:docMk/>
            <pc:sldMk cId="0" sldId="258"/>
            <ac:spMk id="22" creationId="{938323FD-242B-2980-CDC2-9C1F1FF12EF8}"/>
          </ac:spMkLst>
        </pc:spChg>
      </pc:sldChg>
      <pc:sldChg chg="modSp del mod">
        <pc:chgData name="Chirantan Ghosh" userId="32ef30927a24f033" providerId="LiveId" clId="{AFA562B7-134C-426C-9988-6B734D111CBE}" dt="2026-10-13T11:51:29.631" v="741" actId="47"/>
        <pc:sldMkLst>
          <pc:docMk/>
          <pc:sldMk cId="0" sldId="260"/>
        </pc:sldMkLst>
        <pc:spChg chg="mod">
          <ac:chgData name="Chirantan Ghosh" userId="32ef30927a24f033" providerId="LiveId" clId="{AFA562B7-134C-426C-9988-6B734D111CBE}" dt="2026-10-13T08:10:38.259" v="3" actId="20577"/>
          <ac:spMkLst>
            <pc:docMk/>
            <pc:sldMk cId="0" sldId="260"/>
            <ac:spMk id="49" creationId="{00000000-0000-0000-0000-000000000000}"/>
          </ac:spMkLst>
        </pc:spChg>
      </pc:sldChg>
      <pc:sldChg chg="modSp mod">
        <pc:chgData name="Chirantan Ghosh" userId="32ef30927a24f033" providerId="LiveId" clId="{AFA562B7-134C-426C-9988-6B734D111CBE}" dt="2026-10-13T11:53:33.574" v="769" actId="20577"/>
        <pc:sldMkLst>
          <pc:docMk/>
          <pc:sldMk cId="0" sldId="261"/>
        </pc:sldMkLst>
        <pc:spChg chg="mod">
          <ac:chgData name="Chirantan Ghosh" userId="32ef30927a24f033" providerId="LiveId" clId="{AFA562B7-134C-426C-9988-6B734D111CBE}" dt="2026-10-13T11:53:33.574" v="769" actId="20577"/>
          <ac:spMkLst>
            <pc:docMk/>
            <pc:sldMk cId="0" sldId="261"/>
            <ac:spMk id="24" creationId="{00000000-0000-0000-0000-000000000000}"/>
          </ac:spMkLst>
        </pc:spChg>
      </pc:sldChg>
      <pc:sldChg chg="modSp mod">
        <pc:chgData name="Chirantan Ghosh" userId="32ef30927a24f033" providerId="LiveId" clId="{AFA562B7-134C-426C-9988-6B734D111CBE}" dt="2026-10-13T08:12:22.611" v="9" actId="14100"/>
        <pc:sldMkLst>
          <pc:docMk/>
          <pc:sldMk cId="0" sldId="262"/>
        </pc:sldMkLst>
        <pc:graphicFrameChg chg="mod modGraphic">
          <ac:chgData name="Chirantan Ghosh" userId="32ef30927a24f033" providerId="LiveId" clId="{AFA562B7-134C-426C-9988-6B734D111CBE}" dt="2026-10-13T08:12:22.611" v="9" actId="14100"/>
          <ac:graphicFrameMkLst>
            <pc:docMk/>
            <pc:sldMk cId="0" sldId="262"/>
            <ac:graphicFrameMk id="2" creationId="{00000000-0000-0000-0000-000000000000}"/>
          </ac:graphicFrameMkLst>
        </pc:graphicFrameChg>
      </pc:sldChg>
      <pc:sldChg chg="modSp del mod">
        <pc:chgData name="Chirantan Ghosh" userId="32ef30927a24f033" providerId="LiveId" clId="{AFA562B7-134C-426C-9988-6B734D111CBE}" dt="2026-10-14T06:32:54.770" v="909" actId="47"/>
        <pc:sldMkLst>
          <pc:docMk/>
          <pc:sldMk cId="0" sldId="263"/>
        </pc:sldMkLst>
        <pc:spChg chg="mod">
          <ac:chgData name="Chirantan Ghosh" userId="32ef30927a24f033" providerId="LiveId" clId="{AFA562B7-134C-426C-9988-6B734D111CBE}" dt="2026-10-13T08:13:25.949" v="12" actId="14100"/>
          <ac:spMkLst>
            <pc:docMk/>
            <pc:sldMk cId="0" sldId="263"/>
            <ac:spMk id="3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8:13:26.658" v="13" actId="255"/>
          <ac:spMkLst>
            <pc:docMk/>
            <pc:sldMk cId="0" sldId="263"/>
            <ac:spMk id="6" creationId="{00000000-0000-0000-0000-000000000000}"/>
          </ac:spMkLst>
        </pc:spChg>
      </pc:sldChg>
      <pc:sldChg chg="addSp delSp modSp del mod">
        <pc:chgData name="Chirantan Ghosh" userId="32ef30927a24f033" providerId="LiveId" clId="{AFA562B7-134C-426C-9988-6B734D111CBE}" dt="2026-10-13T08:15:05.834" v="33" actId="47"/>
        <pc:sldMkLst>
          <pc:docMk/>
          <pc:sldMk cId="0" sldId="264"/>
        </pc:sldMkLst>
        <pc:spChg chg="del mod">
          <ac:chgData name="Chirantan Ghosh" userId="32ef30927a24f033" providerId="LiveId" clId="{AFA562B7-134C-426C-9988-6B734D111CBE}" dt="2026-10-13T08:14:38.281" v="18" actId="478"/>
          <ac:spMkLst>
            <pc:docMk/>
            <pc:sldMk cId="0" sldId="264"/>
            <ac:spMk id="2" creationId="{00000000-0000-0000-0000-000000000000}"/>
          </ac:spMkLst>
        </pc:spChg>
        <pc:spChg chg="del">
          <ac:chgData name="Chirantan Ghosh" userId="32ef30927a24f033" providerId="LiveId" clId="{AFA562B7-134C-426C-9988-6B734D111CBE}" dt="2026-10-13T08:14:50.146" v="24" actId="478"/>
          <ac:spMkLst>
            <pc:docMk/>
            <pc:sldMk cId="0" sldId="264"/>
            <ac:spMk id="3" creationId="{00000000-0000-0000-0000-000000000000}"/>
          </ac:spMkLst>
        </pc:spChg>
        <pc:spChg chg="del mod">
          <ac:chgData name="Chirantan Ghosh" userId="32ef30927a24f033" providerId="LiveId" clId="{AFA562B7-134C-426C-9988-6B734D111CBE}" dt="2026-10-13T08:14:44.665" v="21" actId="478"/>
          <ac:spMkLst>
            <pc:docMk/>
            <pc:sldMk cId="0" sldId="264"/>
            <ac:spMk id="6" creationId="{00000000-0000-0000-0000-000000000000}"/>
          </ac:spMkLst>
        </pc:spChg>
        <pc:spChg chg="add del mod">
          <ac:chgData name="Chirantan Ghosh" userId="32ef30927a24f033" providerId="LiveId" clId="{AFA562B7-134C-426C-9988-6B734D111CBE}" dt="2026-10-13T08:14:48.873" v="23" actId="478"/>
          <ac:spMkLst>
            <pc:docMk/>
            <pc:sldMk cId="0" sldId="264"/>
            <ac:spMk id="7" creationId="{00000000-0000-0000-0000-000000000000}"/>
          </ac:spMkLst>
        </pc:spChg>
        <pc:spChg chg="del mod">
          <ac:chgData name="Chirantan Ghosh" userId="32ef30927a24f033" providerId="LiveId" clId="{AFA562B7-134C-426C-9988-6B734D111CBE}" dt="2026-10-13T08:15:01.692" v="32"/>
          <ac:spMkLst>
            <pc:docMk/>
            <pc:sldMk cId="0" sldId="264"/>
            <ac:spMk id="9" creationId="{00000000-0000-0000-0000-000000000000}"/>
          </ac:spMkLst>
        </pc:spChg>
        <pc:spChg chg="del">
          <ac:chgData name="Chirantan Ghosh" userId="32ef30927a24f033" providerId="LiveId" clId="{AFA562B7-134C-426C-9988-6B734D111CBE}" dt="2026-10-13T08:14:52.866" v="26" actId="478"/>
          <ac:spMkLst>
            <pc:docMk/>
            <pc:sldMk cId="0" sldId="264"/>
            <ac:spMk id="12" creationId="{00000000-0000-0000-0000-000000000000}"/>
          </ac:spMkLst>
        </pc:spChg>
        <pc:spChg chg="del mod">
          <ac:chgData name="Chirantan Ghosh" userId="32ef30927a24f033" providerId="LiveId" clId="{AFA562B7-134C-426C-9988-6B734D111CBE}" dt="2026-10-13T08:14:56.401" v="28" actId="478"/>
          <ac:spMkLst>
            <pc:docMk/>
            <pc:sldMk cId="0" sldId="264"/>
            <ac:spMk id="14" creationId="{00000000-0000-0000-0000-000000000000}"/>
          </ac:spMkLst>
        </pc:spChg>
        <pc:spChg chg="del">
          <ac:chgData name="Chirantan Ghosh" userId="32ef30927a24f033" providerId="LiveId" clId="{AFA562B7-134C-426C-9988-6B734D111CBE}" dt="2026-10-13T08:14:51.441" v="25" actId="478"/>
          <ac:spMkLst>
            <pc:docMk/>
            <pc:sldMk cId="0" sldId="264"/>
            <ac:spMk id="15" creationId="{00000000-0000-0000-0000-000000000000}"/>
          </ac:spMkLst>
        </pc:spChg>
      </pc:sldChg>
      <pc:sldChg chg="del">
        <pc:chgData name="Chirantan Ghosh" userId="32ef30927a24f033" providerId="LiveId" clId="{AFA562B7-134C-426C-9988-6B734D111CBE}" dt="2026-10-13T11:54:22.741" v="770" actId="47"/>
        <pc:sldMkLst>
          <pc:docMk/>
          <pc:sldMk cId="0" sldId="265"/>
        </pc:sldMkLst>
      </pc:sldChg>
      <pc:sldChg chg="addSp modSp mod">
        <pc:chgData name="Chirantan Ghosh" userId="32ef30927a24f033" providerId="LiveId" clId="{AFA562B7-134C-426C-9988-6B734D111CBE}" dt="2026-10-13T11:55:56.038" v="834" actId="20577"/>
        <pc:sldMkLst>
          <pc:docMk/>
          <pc:sldMk cId="0" sldId="266"/>
        </pc:sldMkLst>
        <pc:spChg chg="add mod">
          <ac:chgData name="Chirantan Ghosh" userId="32ef30927a24f033" providerId="LiveId" clId="{AFA562B7-134C-426C-9988-6B734D111CBE}" dt="2026-10-13T11:55:56.038" v="834" actId="20577"/>
          <ac:spMkLst>
            <pc:docMk/>
            <pc:sldMk cId="0" sldId="266"/>
            <ac:spMk id="39" creationId="{EE849D5A-1517-CB4E-6726-15909B1FECBD}"/>
          </ac:spMkLst>
        </pc:spChg>
      </pc:sldChg>
      <pc:sldChg chg="addSp modSp mod">
        <pc:chgData name="Chirantan Ghosh" userId="32ef30927a24f033" providerId="LiveId" clId="{AFA562B7-134C-426C-9988-6B734D111CBE}" dt="2026-10-13T11:56:50.732" v="881" actId="20577"/>
        <pc:sldMkLst>
          <pc:docMk/>
          <pc:sldMk cId="0" sldId="267"/>
        </pc:sldMkLst>
        <pc:spChg chg="add mod">
          <ac:chgData name="Chirantan Ghosh" userId="32ef30927a24f033" providerId="LiveId" clId="{AFA562B7-134C-426C-9988-6B734D111CBE}" dt="2026-10-13T11:56:50.732" v="881" actId="20577"/>
          <ac:spMkLst>
            <pc:docMk/>
            <pc:sldMk cId="0" sldId="267"/>
            <ac:spMk id="17" creationId="{1B4322B7-3DFE-19E5-04E4-868D8C2FE3AA}"/>
          </ac:spMkLst>
        </pc:spChg>
      </pc:sldChg>
      <pc:sldChg chg="modSp mod">
        <pc:chgData name="Chirantan Ghosh" userId="32ef30927a24f033" providerId="LiveId" clId="{AFA562B7-134C-426C-9988-6B734D111CBE}" dt="2026-10-13T12:03:32.618" v="907" actId="20577"/>
        <pc:sldMkLst>
          <pc:docMk/>
          <pc:sldMk cId="0" sldId="269"/>
        </pc:sldMkLst>
        <pc:spChg chg="mod">
          <ac:chgData name="Chirantan Ghosh" userId="32ef30927a24f033" providerId="LiveId" clId="{AFA562B7-134C-426C-9988-6B734D111CBE}" dt="2026-10-13T12:03:32.618" v="907" actId="20577"/>
          <ac:spMkLst>
            <pc:docMk/>
            <pc:sldMk cId="0" sldId="269"/>
            <ac:spMk id="12" creationId="{00000000-0000-0000-0000-000000000000}"/>
          </ac:spMkLst>
        </pc:spChg>
      </pc:sldChg>
      <pc:sldChg chg="del">
        <pc:chgData name="Chirantan Ghosh" userId="32ef30927a24f033" providerId="LiveId" clId="{AFA562B7-134C-426C-9988-6B734D111CBE}" dt="2026-10-14T06:34:42.326" v="911" actId="47"/>
        <pc:sldMkLst>
          <pc:docMk/>
          <pc:sldMk cId="0" sldId="271"/>
        </pc:sldMkLst>
      </pc:sldChg>
      <pc:sldChg chg="del">
        <pc:chgData name="Chirantan Ghosh" userId="32ef30927a24f033" providerId="LiveId" clId="{AFA562B7-134C-426C-9988-6B734D111CBE}" dt="2026-10-14T06:34:38.745" v="910" actId="47"/>
        <pc:sldMkLst>
          <pc:docMk/>
          <pc:sldMk cId="0" sldId="274"/>
        </pc:sldMkLst>
      </pc:sldChg>
      <pc:sldChg chg="del">
        <pc:chgData name="Chirantan Ghosh" userId="32ef30927a24f033" providerId="LiveId" clId="{AFA562B7-134C-426C-9988-6B734D111CBE}" dt="2026-10-13T12:04:39.237" v="908" actId="47"/>
        <pc:sldMkLst>
          <pc:docMk/>
          <pc:sldMk cId="0" sldId="275"/>
        </pc:sldMkLst>
      </pc:sldChg>
      <pc:sldChg chg="modSp mod">
        <pc:chgData name="Chirantan Ghosh" userId="32ef30927a24f033" providerId="LiveId" clId="{AFA562B7-134C-426C-9988-6B734D111CBE}" dt="2026-10-13T08:22:24.452" v="385" actId="255"/>
        <pc:sldMkLst>
          <pc:docMk/>
          <pc:sldMk cId="0" sldId="276"/>
        </pc:sldMkLst>
        <pc:spChg chg="mod">
          <ac:chgData name="Chirantan Ghosh" userId="32ef30927a24f033" providerId="LiveId" clId="{AFA562B7-134C-426C-9988-6B734D111CBE}" dt="2026-10-13T08:21:26.568" v="353" actId="1037"/>
          <ac:spMkLst>
            <pc:docMk/>
            <pc:sldMk cId="0" sldId="276"/>
            <ac:spMk id="3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8:22:24.452" v="385" actId="255"/>
          <ac:spMkLst>
            <pc:docMk/>
            <pc:sldMk cId="0" sldId="276"/>
            <ac:spMk id="4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8:21:26.568" v="353" actId="1037"/>
          <ac:spMkLst>
            <pc:docMk/>
            <pc:sldMk cId="0" sldId="276"/>
            <ac:spMk id="5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8:21:26.568" v="353" actId="1037"/>
          <ac:spMkLst>
            <pc:docMk/>
            <pc:sldMk cId="0" sldId="276"/>
            <ac:spMk id="7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8:22:08.371" v="384" actId="255"/>
          <ac:spMkLst>
            <pc:docMk/>
            <pc:sldMk cId="0" sldId="276"/>
            <ac:spMk id="8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8:21:56.759" v="374" actId="255"/>
          <ac:spMkLst>
            <pc:docMk/>
            <pc:sldMk cId="0" sldId="276"/>
            <ac:spMk id="9" creationId="{00000000-0000-0000-0000-000000000000}"/>
          </ac:spMkLst>
        </pc:spChg>
      </pc:sldChg>
      <pc:sldChg chg="addSp delSp modSp new mod ord">
        <pc:chgData name="Chirantan Ghosh" userId="32ef30927a24f033" providerId="LiveId" clId="{AFA562B7-134C-426C-9988-6B734D111CBE}" dt="2026-10-13T11:54:27.443" v="772"/>
        <pc:sldMkLst>
          <pc:docMk/>
          <pc:sldMk cId="3882855057" sldId="277"/>
        </pc:sldMkLst>
        <pc:spChg chg="add del">
          <ac:chgData name="Chirantan Ghosh" userId="32ef30927a24f033" providerId="LiveId" clId="{AFA562B7-134C-426C-9988-6B734D111CBE}" dt="2026-10-13T08:15:52.111" v="44" actId="22"/>
          <ac:spMkLst>
            <pc:docMk/>
            <pc:sldMk cId="3882855057" sldId="277"/>
            <ac:spMk id="5" creationId="{5D7B963A-85DC-BA79-3214-4CFC34DD1BC0}"/>
          </ac:spMkLst>
        </pc:spChg>
        <pc:spChg chg="add mod">
          <ac:chgData name="Chirantan Ghosh" userId="32ef30927a24f033" providerId="LiveId" clId="{AFA562B7-134C-426C-9988-6B734D111CBE}" dt="2026-10-13T08:18:05.283" v="207" actId="14100"/>
          <ac:spMkLst>
            <pc:docMk/>
            <pc:sldMk cId="3882855057" sldId="277"/>
            <ac:spMk id="7" creationId="{7B4BA659-17B7-190F-0EB0-DD93E6D9EC09}"/>
          </ac:spMkLst>
        </pc:spChg>
        <pc:spChg chg="add del mod">
          <ac:chgData name="Chirantan Ghosh" userId="32ef30927a24f033" providerId="LiveId" clId="{AFA562B7-134C-426C-9988-6B734D111CBE}" dt="2026-10-13T08:17:02.853" v="169"/>
          <ac:spMkLst>
            <pc:docMk/>
            <pc:sldMk cId="3882855057" sldId="277"/>
            <ac:spMk id="8" creationId="{66438741-076B-0510-FEBC-C612406BA15D}"/>
          </ac:spMkLst>
        </pc:spChg>
        <pc:spChg chg="add mod">
          <ac:chgData name="Chirantan Ghosh" userId="32ef30927a24f033" providerId="LiveId" clId="{AFA562B7-134C-426C-9988-6B734D111CBE}" dt="2026-10-13T08:18:10.751" v="237" actId="1035"/>
          <ac:spMkLst>
            <pc:docMk/>
            <pc:sldMk cId="3882855057" sldId="277"/>
            <ac:spMk id="9" creationId="{095AE3E1-984E-A8E8-5A3B-365F7A235718}"/>
          </ac:spMkLst>
        </pc:spChg>
        <pc:spChg chg="add del mod">
          <ac:chgData name="Chirantan Ghosh" userId="32ef30927a24f033" providerId="LiveId" clId="{AFA562B7-134C-426C-9988-6B734D111CBE}" dt="2026-10-13T08:20:11.038" v="240"/>
          <ac:spMkLst>
            <pc:docMk/>
            <pc:sldMk cId="3882855057" sldId="277"/>
            <ac:spMk id="10" creationId="{0FD312CD-3948-7C0C-D892-5CF7DA549028}"/>
          </ac:spMkLst>
        </pc:spChg>
        <pc:spChg chg="add mod">
          <ac:chgData name="Chirantan Ghosh" userId="32ef30927a24f033" providerId="LiveId" clId="{AFA562B7-134C-426C-9988-6B734D111CBE}" dt="2026-10-13T08:20:26.160" v="242"/>
          <ac:spMkLst>
            <pc:docMk/>
            <pc:sldMk cId="3882855057" sldId="277"/>
            <ac:spMk id="11" creationId="{CA9DBFA9-2CF7-FC84-E351-6A6451D7ABEF}"/>
          </ac:spMkLst>
        </pc:spChg>
        <pc:picChg chg="add mod">
          <ac:chgData name="Chirantan Ghosh" userId="32ef30927a24f033" providerId="LiveId" clId="{AFA562B7-134C-426C-9988-6B734D111CBE}" dt="2026-10-13T08:15:55.105" v="45" actId="1076"/>
          <ac:picMkLst>
            <pc:docMk/>
            <pc:sldMk cId="3882855057" sldId="277"/>
            <ac:picMk id="3" creationId="{5877353C-497D-1311-1630-1AE9A703EDE7}"/>
          </ac:picMkLst>
        </pc:picChg>
      </pc:sldChg>
      <pc:sldChg chg="addSp delSp modSp new del mod">
        <pc:chgData name="Chirantan Ghosh" userId="32ef30927a24f033" providerId="LiveId" clId="{AFA562B7-134C-426C-9988-6B734D111CBE}" dt="2026-10-13T09:18:38.401" v="732" actId="2696"/>
        <pc:sldMkLst>
          <pc:docMk/>
          <pc:sldMk cId="2910578398" sldId="278"/>
        </pc:sldMkLst>
        <pc:picChg chg="add del mod">
          <ac:chgData name="Chirantan Ghosh" userId="32ef30927a24f033" providerId="LiveId" clId="{AFA562B7-134C-426C-9988-6B734D111CBE}" dt="2026-10-13T09:18:26.133" v="729" actId="478"/>
          <ac:picMkLst>
            <pc:docMk/>
            <pc:sldMk cId="2910578398" sldId="278"/>
            <ac:picMk id="3" creationId="{DDC7D318-C682-85E6-310F-6B1309332AAD}"/>
          </ac:picMkLst>
        </pc:picChg>
      </pc:sldChg>
      <pc:sldChg chg="modSp add del mod ord setBg">
        <pc:chgData name="Chirantan Ghosh" userId="32ef30927a24f033" providerId="LiveId" clId="{AFA562B7-134C-426C-9988-6B734D111CBE}" dt="2026-10-13T11:51:11.968" v="740" actId="20577"/>
        <pc:sldMkLst>
          <pc:docMk/>
          <pc:sldMk cId="0" sldId="279"/>
        </pc:sldMkLst>
        <pc:spChg chg="mod">
          <ac:chgData name="Chirantan Ghosh" userId="32ef30927a24f033" providerId="LiveId" clId="{AFA562B7-134C-426C-9988-6B734D111CBE}" dt="2026-10-13T09:17:35.504" v="720" actId="207"/>
          <ac:spMkLst>
            <pc:docMk/>
            <pc:sldMk cId="0" sldId="279"/>
            <ac:spMk id="3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17:39.905" v="721" actId="207"/>
          <ac:spMkLst>
            <pc:docMk/>
            <pc:sldMk cId="0" sldId="279"/>
            <ac:spMk id="4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17:54.460" v="725" actId="207"/>
          <ac:spMkLst>
            <pc:docMk/>
            <pc:sldMk cId="0" sldId="279"/>
            <ac:spMk id="11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17:54.460" v="725" actId="207"/>
          <ac:spMkLst>
            <pc:docMk/>
            <pc:sldMk cId="0" sldId="279"/>
            <ac:spMk id="12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17:54.460" v="725" actId="207"/>
          <ac:spMkLst>
            <pc:docMk/>
            <pc:sldMk cId="0" sldId="279"/>
            <ac:spMk id="14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11:49:10.683" v="733" actId="20577"/>
          <ac:spMkLst>
            <pc:docMk/>
            <pc:sldMk cId="0" sldId="279"/>
            <ac:spMk id="21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17:54.460" v="725" actId="207"/>
          <ac:spMkLst>
            <pc:docMk/>
            <pc:sldMk cId="0" sldId="279"/>
            <ac:spMk id="22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17:54.460" v="725" actId="207"/>
          <ac:spMkLst>
            <pc:docMk/>
            <pc:sldMk cId="0" sldId="279"/>
            <ac:spMk id="23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17:54.460" v="725" actId="207"/>
          <ac:spMkLst>
            <pc:docMk/>
            <pc:sldMk cId="0" sldId="279"/>
            <ac:spMk id="30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17:54.460" v="725" actId="207"/>
          <ac:spMkLst>
            <pc:docMk/>
            <pc:sldMk cId="0" sldId="279"/>
            <ac:spMk id="31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11:49:28.625" v="738" actId="14100"/>
          <ac:spMkLst>
            <pc:docMk/>
            <pc:sldMk cId="0" sldId="279"/>
            <ac:spMk id="32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17:54.460" v="725" actId="207"/>
          <ac:spMkLst>
            <pc:docMk/>
            <pc:sldMk cId="0" sldId="279"/>
            <ac:spMk id="33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11:51:11.968" v="740" actId="20577"/>
          <ac:spMkLst>
            <pc:docMk/>
            <pc:sldMk cId="0" sldId="279"/>
            <ac:spMk id="34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17:54.460" v="725" actId="207"/>
          <ac:spMkLst>
            <pc:docMk/>
            <pc:sldMk cId="0" sldId="279"/>
            <ac:spMk id="35" creationId="{00000000-0000-0000-0000-000000000000}"/>
          </ac:spMkLst>
        </pc:spChg>
        <pc:spChg chg="mod">
          <ac:chgData name="Chirantan Ghosh" userId="32ef30927a24f033" providerId="LiveId" clId="{AFA562B7-134C-426C-9988-6B734D111CBE}" dt="2026-10-13T09:17:47.978" v="722" actId="207"/>
          <ac:spMkLst>
            <pc:docMk/>
            <pc:sldMk cId="0" sldId="279"/>
            <ac:spMk id="3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23900" y="5924401"/>
            <a:ext cx="10744200" cy="400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23900" y="5924401"/>
            <a:ext cx="107442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49086" y="4006672"/>
            <a:ext cx="1295400" cy="304800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133600" y="4006672"/>
            <a:ext cx="1057275" cy="304800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305175" y="4006672"/>
            <a:ext cx="676275" cy="304800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3900" y="2695426"/>
            <a:ext cx="5547994" cy="60272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698"/>
              </a:lnSpc>
            </a:pPr>
            <a:r>
              <a:rPr sz="4400" b="1" i="0" u="none" dirty="0">
                <a:solidFill>
                  <a:srgbClr val="FFFFFF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Campus Food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3450501"/>
            <a:ext cx="566296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2000" b="0" i="0" u="none" dirty="0">
                <a:solidFill>
                  <a:srgbClr val="38BDF8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A </a:t>
            </a:r>
            <a:r>
              <a:rPr sz="2000" b="0" i="0" u="none" dirty="0" err="1">
                <a:solidFill>
                  <a:srgbClr val="38BDF8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Spatio</a:t>
            </a:r>
            <a:r>
              <a:rPr sz="2000" b="0" i="0" u="none" dirty="0">
                <a:solidFill>
                  <a:srgbClr val="38BDF8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-Temporal </a:t>
            </a:r>
            <a:r>
              <a:rPr lang="en-IN" sz="2000" dirty="0">
                <a:solidFill>
                  <a:srgbClr val="38BDF8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Database for Campus Food Delivery</a:t>
            </a:r>
            <a:endParaRPr sz="2000" b="0" i="0" u="none" dirty="0">
              <a:solidFill>
                <a:srgbClr val="38BDF8"/>
              </a:solidFill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3900" y="6143476"/>
            <a:ext cx="261327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chemeClr val="accent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Team: </a:t>
            </a:r>
            <a:r>
              <a:rPr lang="en-IN" sz="1200" b="1" dirty="0">
                <a:solidFill>
                  <a:srgbClr val="FFFFFF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Vatsal</a:t>
            </a:r>
            <a:r>
              <a:rPr sz="1200" b="1" dirty="0">
                <a:solidFill>
                  <a:srgbClr val="FFFFFF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 • Chirantan • Sajal • </a:t>
            </a:r>
            <a:r>
              <a:rPr lang="en-IN" sz="1200" b="1" dirty="0">
                <a:solidFill>
                  <a:srgbClr val="FFFFFF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Ayush</a:t>
            </a:r>
            <a:endParaRPr sz="1200" b="1" dirty="0">
              <a:solidFill>
                <a:srgbClr val="FFFFFF"/>
              </a:solidFill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410700" y="6153001"/>
            <a:ext cx="1697581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i="0" u="none">
                <a:solidFill>
                  <a:srgbClr val="64748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PostgreSQL 15 + PostGIS 3.3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1025"/>
            <a:ext cx="2675412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 u="none">
                <a:solidFill>
                  <a:srgbClr val="38BDF8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CS G516 • ADVANCED DATABASE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8636" y="4073347"/>
            <a:ext cx="108585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rgbClr val="E0F2FE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RESTAURANT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61089" y="4082128"/>
            <a:ext cx="84772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rgbClr val="E0F2FE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7897" y="4082128"/>
            <a:ext cx="46672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rgbClr val="E0F2FE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33500"/>
            <a:ext cx="5391150" cy="1104900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191250" y="1333500"/>
            <a:ext cx="5391150" cy="1104900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2428875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1333500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47625" cy="11049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1225" y="1333500"/>
            <a:ext cx="9525" cy="11049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91250" y="2428875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91250" y="1333500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91250" y="1333500"/>
            <a:ext cx="47625" cy="110490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572875" y="1333500"/>
            <a:ext cx="9525" cy="11049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09600" y="3826222"/>
            <a:ext cx="3543300" cy="1763209"/>
          </a:xfrm>
          <a:prstGeom prst="roundRect">
            <a:avLst>
              <a:gd name="adj" fmla="val 69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35780" y="3826221"/>
            <a:ext cx="3543300" cy="1763210"/>
          </a:xfrm>
          <a:prstGeom prst="roundRect">
            <a:avLst>
              <a:gd name="adj" fmla="val 69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39100" y="3826222"/>
            <a:ext cx="3543300" cy="1763209"/>
          </a:xfrm>
          <a:prstGeom prst="roundRect">
            <a:avLst>
              <a:gd name="adj" fmla="val 69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8675" y="4064347"/>
            <a:ext cx="912614" cy="1905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12945" y="4056310"/>
            <a:ext cx="931664" cy="1905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58175" y="4064347"/>
            <a:ext cx="931664" cy="1905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7225" y="449133"/>
            <a:ext cx="98001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284C7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66750"/>
            <a:ext cx="4814395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Project Scope &amp; Milestones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1552575"/>
            <a:ext cx="1230080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369A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Core Problem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1819275"/>
            <a:ext cx="4972050" cy="401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200" b="0" i="0" u="none" dirty="0">
                <a:solidFill>
                  <a:srgbClr val="475569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Track food orders and dynamic driver GPS trajectories across campus drop-offs and time windows for operational and analytical monitoring.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7475" y="1552575"/>
            <a:ext cx="128400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369A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Database 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7475" y="1819275"/>
            <a:ext cx="4972050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200" b="0" i="0" u="none" dirty="0">
                <a:solidFill>
                  <a:srgbClr val="475569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Model campus delivery operations across space and time to serve operational, spatial, temporal, and telemetry query workloads.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1251" y="4082653"/>
            <a:ext cx="10459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rgbClr val="0284C7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MILESTONE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75" y="4331047"/>
            <a:ext cx="197855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Problem &amp; Workloads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675" y="4597747"/>
            <a:ext cx="3200400" cy="5715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522"/>
              </a:lnSpc>
            </a:pPr>
            <a:r>
              <a:rPr lang="en-US" sz="1200" b="0" i="0" u="none" dirty="0">
                <a:solidFill>
                  <a:srgbClr val="64748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Introduced the </a:t>
            </a:r>
            <a:r>
              <a:rPr sz="1200" b="0" i="0" u="none" dirty="0">
                <a:solidFill>
                  <a:srgbClr val="64748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Entities, delivery event definitions, </a:t>
            </a:r>
            <a:r>
              <a:rPr lang="en-US" sz="1200" b="0" i="0" u="none" dirty="0">
                <a:solidFill>
                  <a:srgbClr val="64748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S</a:t>
            </a:r>
            <a:r>
              <a:rPr sz="1200" b="0" i="0" u="none" dirty="0">
                <a:solidFill>
                  <a:srgbClr val="64748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patial/temporal </a:t>
            </a:r>
            <a:r>
              <a:rPr lang="en-US" sz="1200" b="0" i="0" u="none" dirty="0">
                <a:solidFill>
                  <a:srgbClr val="64748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tables along with the respective </a:t>
            </a:r>
            <a:r>
              <a:rPr lang="en-IN" sz="1200" dirty="0">
                <a:solidFill>
                  <a:srgbClr val="64748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queries for each problem statement</a:t>
            </a:r>
            <a:r>
              <a:rPr lang="en-US" sz="1200" b="0" i="0" u="none" dirty="0">
                <a:solidFill>
                  <a:srgbClr val="64748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 </a:t>
            </a:r>
            <a:endParaRPr sz="1200" b="0" i="0" u="none" dirty="0">
              <a:solidFill>
                <a:srgbClr val="64748B"/>
              </a:solidFill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49481" y="4074616"/>
            <a:ext cx="87451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rgbClr val="0284C7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MILESTONE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3425" y="4331047"/>
            <a:ext cx="153176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Data &amp; DB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3425" y="4597747"/>
            <a:ext cx="3200400" cy="5715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200" b="0" i="0" u="none" dirty="0">
                <a:solidFill>
                  <a:srgbClr val="64748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ER schema</a:t>
            </a:r>
            <a:r>
              <a:rPr lang="en-US" sz="1200" b="0" i="0" u="none" dirty="0">
                <a:solidFill>
                  <a:srgbClr val="64748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-Designing</a:t>
            </a:r>
            <a:r>
              <a:rPr sz="1200" b="0" i="0" u="none" dirty="0">
                <a:solidFill>
                  <a:srgbClr val="64748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,</a:t>
            </a:r>
            <a:endParaRPr lang="en-US" sz="1200" b="0" i="0" u="none" dirty="0">
              <a:solidFill>
                <a:srgbClr val="64748B"/>
              </a:solidFill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522"/>
              </a:lnSpc>
            </a:pPr>
            <a:r>
              <a:rPr sz="1200" b="0" i="0" u="none" dirty="0">
                <a:solidFill>
                  <a:srgbClr val="64748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 3NF normalization</a:t>
            </a:r>
            <a:endParaRPr lang="en-US" sz="1200" dirty="0">
              <a:solidFill>
                <a:srgbClr val="64748B"/>
              </a:solidFill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522"/>
              </a:lnSpc>
            </a:pPr>
            <a:r>
              <a:rPr sz="1200" b="0" i="0" u="none" dirty="0" err="1">
                <a:solidFill>
                  <a:srgbClr val="64748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PostGIS</a:t>
            </a:r>
            <a:r>
              <a:rPr sz="1200" b="0" i="0" u="none" dirty="0">
                <a:solidFill>
                  <a:srgbClr val="64748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/TIMESTAMPTZ modeling.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5165" y="4082653"/>
            <a:ext cx="87451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rgbClr val="0284C7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MILESTONE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8175" y="4331047"/>
            <a:ext cx="174086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DB Implementation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8175" y="4597747"/>
            <a:ext cx="3200400" cy="5715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200" b="0" i="0" u="none" dirty="0" err="1">
                <a:solidFill>
                  <a:srgbClr val="64748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PostGIS</a:t>
            </a:r>
            <a:r>
              <a:rPr sz="1200" b="0" i="0" u="none" dirty="0">
                <a:solidFill>
                  <a:srgbClr val="64748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 instance</a:t>
            </a:r>
            <a:endParaRPr lang="en-US" sz="1200" b="0" i="0" u="none" dirty="0">
              <a:solidFill>
                <a:srgbClr val="64748B"/>
              </a:solidFill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522"/>
              </a:lnSpc>
            </a:pPr>
            <a:r>
              <a:rPr lang="en-US" sz="1200" dirty="0">
                <a:solidFill>
                  <a:srgbClr val="64748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S</a:t>
            </a:r>
            <a:r>
              <a:rPr sz="1200" b="0" i="0" u="none" dirty="0">
                <a:solidFill>
                  <a:srgbClr val="64748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patial </a:t>
            </a:r>
            <a:r>
              <a:rPr sz="1200" b="0" i="0" u="none" dirty="0" err="1">
                <a:solidFill>
                  <a:srgbClr val="64748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GiST</a:t>
            </a:r>
            <a:r>
              <a:rPr sz="1200" b="0" i="0" u="none" dirty="0">
                <a:solidFill>
                  <a:srgbClr val="64748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 indexing, seed data,</a:t>
            </a:r>
            <a:endParaRPr lang="en-US" sz="1200" b="0" i="0" u="none" dirty="0">
              <a:solidFill>
                <a:srgbClr val="64748B"/>
              </a:solidFill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522"/>
              </a:lnSpc>
            </a:pPr>
            <a:r>
              <a:rPr lang="en-US" sz="1200" dirty="0">
                <a:solidFill>
                  <a:srgbClr val="64748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B</a:t>
            </a:r>
            <a:r>
              <a:rPr sz="1200" b="0" i="0" u="none" dirty="0">
                <a:solidFill>
                  <a:srgbClr val="64748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aseline query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905500"/>
            <a:ext cx="10972800" cy="495300"/>
          </a:xfrm>
          <a:prstGeom prst="roundRect">
            <a:avLst>
              <a:gd name="adj" fmla="val 15384"/>
            </a:avLst>
          </a:prstGeom>
          <a:solidFill>
            <a:srgbClr val="09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09600" y="1333500"/>
            <a:ext cx="5372100" cy="4381500"/>
          </a:xfrm>
          <a:prstGeom prst="roundRect">
            <a:avLst>
              <a:gd name="adj" fmla="val 217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276975" y="1410042"/>
            <a:ext cx="5372100" cy="4381500"/>
          </a:xfrm>
          <a:prstGeom prst="roundRect">
            <a:avLst>
              <a:gd name="adj" fmla="val 2173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5905500"/>
            <a:ext cx="38100" cy="4953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6096000"/>
            <a:ext cx="4133850" cy="114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" y="1609725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575" y="1609725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937" y="1704975"/>
            <a:ext cx="1428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1704975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41097"/>
            <a:ext cx="134216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284C7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MILESTONE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66750"/>
            <a:ext cx="4850174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Why </a:t>
            </a:r>
            <a:r>
              <a:rPr sz="3200" b="1" i="0" u="none" dirty="0" err="1">
                <a:solidFill>
                  <a:srgbClr val="0F172A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Spatio</a:t>
            </a:r>
            <a:r>
              <a:rPr sz="3200" b="1" i="0" u="none" dirty="0">
                <a:solidFill>
                  <a:srgbClr val="0F172A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-Temporal Data?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4075" y="6027921"/>
            <a:ext cx="6707131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Example: Trajectory reconstruction in Hostel Zone A during peak dinner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875" y="5286375"/>
            <a:ext cx="279403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50" b="1" i="0" u="none" dirty="0">
                <a:solidFill>
                  <a:srgbClr val="15803D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✓ Geodesic distances &amp; topological containment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575" y="5286375"/>
            <a:ext cx="247824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50" b="1" i="0" u="none" dirty="0">
                <a:solidFill>
                  <a:srgbClr val="0284C7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✓ Turnaround analysis &amp; trajectory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0175" y="1676400"/>
            <a:ext cx="223907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166534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SPATIAL</a:t>
            </a:r>
            <a:r>
              <a:rPr lang="en-US" b="1" i="0" u="none" dirty="0">
                <a:solidFill>
                  <a:srgbClr val="166534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-Components:</a:t>
            </a:r>
            <a:endParaRPr b="1" i="0" u="none" dirty="0">
              <a:solidFill>
                <a:srgbClr val="166534"/>
              </a:solidFill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4875" y="2227104"/>
            <a:ext cx="4876800" cy="1436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i="0" u="none" dirty="0">
                <a:solidFill>
                  <a:srgbClr val="0F172A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Points (SRID 4326):</a:t>
            </a:r>
            <a:endParaRPr lang="en-US" b="1" i="0" u="none" dirty="0">
              <a:solidFill>
                <a:srgbClr val="0F172A"/>
              </a:solidFill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631"/>
              </a:lnSpc>
            </a:pPr>
            <a:endParaRPr lang="en-US" b="1" i="0" u="none" dirty="0">
              <a:solidFill>
                <a:srgbClr val="0F172A"/>
              </a:solidFill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1631"/>
              </a:lnSpc>
              <a:buFont typeface="Arial" panose="020B0604020202020204" pitchFamily="34" charset="0"/>
              <a:buChar char="•"/>
            </a:pPr>
            <a:r>
              <a:rPr sz="1600" b="0" i="0" u="none" dirty="0">
                <a:solidFill>
                  <a:srgbClr val="1E293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Exact pickup and delivery drop-off coordinate geometries.</a:t>
            </a:r>
            <a:endParaRPr lang="en-US" sz="1600" b="0" i="0" u="none" dirty="0">
              <a:solidFill>
                <a:srgbClr val="1E293B"/>
              </a:solidFill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1631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1E293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Pickup-</a:t>
            </a:r>
            <a:r>
              <a:rPr lang="en-IN" sz="1600" dirty="0" err="1">
                <a:solidFill>
                  <a:srgbClr val="1E293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Resturaunts</a:t>
            </a:r>
            <a:r>
              <a:rPr lang="en-IN" sz="1600" dirty="0">
                <a:solidFill>
                  <a:srgbClr val="1E293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 , Canteens</a:t>
            </a:r>
          </a:p>
          <a:p>
            <a:pPr marL="285750" indent="-285750" algn="l">
              <a:lnSpc>
                <a:spcPts val="1631"/>
              </a:lnSpc>
              <a:buFont typeface="Arial" panose="020B0604020202020204" pitchFamily="34" charset="0"/>
              <a:buChar char="•"/>
            </a:pPr>
            <a:r>
              <a:rPr lang="en-IN" sz="1600" b="0" i="0" u="none" dirty="0">
                <a:solidFill>
                  <a:srgbClr val="1E293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Drop-Off</a:t>
            </a:r>
            <a:r>
              <a:rPr lang="en-IN" sz="1600" dirty="0">
                <a:solidFill>
                  <a:srgbClr val="1E293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-Customers</a:t>
            </a:r>
            <a:endParaRPr lang="en-US" sz="1600" b="0" i="0" u="none" dirty="0">
              <a:solidFill>
                <a:srgbClr val="1E293B"/>
              </a:solidFill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631"/>
              </a:lnSpc>
            </a:pPr>
            <a:endParaRPr sz="1400" b="0" i="0" u="none" dirty="0">
              <a:solidFill>
                <a:srgbClr val="1E293B"/>
              </a:solidFill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4875" y="3830855"/>
            <a:ext cx="4876800" cy="1031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i="0" u="none" dirty="0">
                <a:solidFill>
                  <a:srgbClr val="0F172A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Polygons (SRID 4326):</a:t>
            </a:r>
            <a:r>
              <a:rPr b="0" i="0" u="none" dirty="0">
                <a:solidFill>
                  <a:srgbClr val="1E293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b="0" i="0" u="none" dirty="0">
              <a:solidFill>
                <a:srgbClr val="1E293B"/>
              </a:solidFill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631"/>
              </a:lnSpc>
            </a:pPr>
            <a:endParaRPr lang="en-US" b="0" i="0" u="none" dirty="0">
              <a:solidFill>
                <a:srgbClr val="1E293B"/>
              </a:solidFill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1631"/>
              </a:lnSpc>
              <a:buFont typeface="Arial" panose="020B0604020202020204" pitchFamily="34" charset="0"/>
              <a:buChar char="•"/>
            </a:pPr>
            <a:r>
              <a:rPr sz="1600" b="0" i="0" u="none" dirty="0">
                <a:solidFill>
                  <a:srgbClr val="1E293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Campus boundary geofences</a:t>
            </a:r>
            <a:endParaRPr lang="en-US" sz="1600" b="0" i="0" u="none" dirty="0">
              <a:solidFill>
                <a:srgbClr val="1E293B"/>
              </a:solidFill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1631"/>
              </a:lnSpc>
              <a:buFont typeface="Arial" panose="020B0604020202020204" pitchFamily="34" charset="0"/>
              <a:buChar char="•"/>
            </a:pPr>
            <a:r>
              <a:rPr sz="1600" b="0" i="0" u="none" dirty="0">
                <a:solidFill>
                  <a:srgbClr val="1E293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Academic and Hostel zones.</a:t>
            </a:r>
            <a:endParaRPr lang="en-US" sz="1600" b="0" i="0" u="none" dirty="0">
              <a:solidFill>
                <a:srgbClr val="1E293B"/>
              </a:solidFill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1631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1E293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Restricted Areas</a:t>
            </a:r>
            <a:endParaRPr sz="1600" b="0" i="0" u="none" dirty="0">
              <a:solidFill>
                <a:srgbClr val="1E293B"/>
              </a:solidFill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00875" y="1676400"/>
            <a:ext cx="253870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b="1" i="0" u="none" dirty="0">
                <a:solidFill>
                  <a:srgbClr val="0369A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TEMPORAL</a:t>
            </a:r>
            <a:r>
              <a:rPr lang="en-US" b="1" i="0" u="none" dirty="0">
                <a:solidFill>
                  <a:srgbClr val="0369A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-Components:</a:t>
            </a:r>
            <a:endParaRPr b="1" i="0" u="none" dirty="0">
              <a:solidFill>
                <a:srgbClr val="0369A1"/>
              </a:solidFill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05574" y="2089508"/>
            <a:ext cx="4970145" cy="430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631"/>
              </a:lnSpc>
            </a:pPr>
            <a:r>
              <a:rPr lang="en-US" sz="2000" dirty="0">
                <a:latin typeface="Aptos Display" panose="020B0004020202020204" pitchFamily="34" charset="0"/>
                <a:cs typeface="Times New Roman" panose="02020603050405020304" pitchFamily="18" charset="0"/>
              </a:rPr>
              <a:t>Instants (t): Timestamped high-frequency GPS telemetry pings (</a:t>
            </a:r>
            <a:r>
              <a:rPr lang="en-US" sz="2000" dirty="0" err="1">
                <a:latin typeface="Aptos Display" panose="020B0004020202020204" pitchFamily="34" charset="0"/>
                <a:cs typeface="Times New Roman" panose="02020603050405020304" pitchFamily="18" charset="0"/>
              </a:rPr>
              <a:t>recorded_at</a:t>
            </a:r>
            <a:r>
              <a:rPr lang="en-US" sz="2000" dirty="0">
                <a:latin typeface="Aptos Display" panose="020B0004020202020204" pitchFamily="34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2246" y="2655735"/>
            <a:ext cx="4876800" cy="4159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600" b="1" i="0" u="none" dirty="0">
                <a:solidFill>
                  <a:srgbClr val="0F172A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Derived Intervals:</a:t>
            </a:r>
            <a:endParaRPr lang="en-US" sz="1600" b="1" i="0" u="none" dirty="0">
              <a:solidFill>
                <a:srgbClr val="0F172A"/>
              </a:solidFill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1631"/>
              </a:lnSpc>
            </a:pPr>
            <a:r>
              <a:rPr sz="1600" b="0" i="0" u="none" dirty="0">
                <a:solidFill>
                  <a:srgbClr val="1E293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 Order lifecycle durations from </a:t>
            </a:r>
            <a:r>
              <a:rPr sz="1600" b="0" i="0" u="none" dirty="0" err="1">
                <a:solidFill>
                  <a:srgbClr val="0369A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created_at</a:t>
            </a:r>
            <a:r>
              <a:rPr sz="1600" b="0" i="0" u="none" dirty="0">
                <a:solidFill>
                  <a:srgbClr val="1E293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 to </a:t>
            </a:r>
            <a:r>
              <a:rPr sz="1600" b="0" i="0" u="none" dirty="0" err="1">
                <a:solidFill>
                  <a:srgbClr val="0369A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fulfilled_at</a:t>
            </a:r>
            <a:r>
              <a:rPr sz="1600" b="0" i="0" u="none" dirty="0">
                <a:solidFill>
                  <a:srgbClr val="1E293B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642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45CDDB"/>
                </a:solidFill>
                <a:latin typeface="Aptos"/>
              </a:rPr>
              <a:t>CAMPUS FOOD DELIVERY  •  SPATIO-TEMPORAL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7331174" cy="4001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600" b="1" dirty="0">
                <a:latin typeface="Aptos"/>
              </a:rPr>
              <a:t>Ask WHERE. Know WHEN. Predict WHAT’S NEXT.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25296"/>
            <a:ext cx="525637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dirty="0">
                <a:latin typeface="Aptos"/>
              </a:rPr>
              <a:t>Location + time data turn everyday delivery events into smarter, safer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10512"/>
            <a:ext cx="3401568" cy="4407408"/>
          </a:xfrm>
          <a:prstGeom prst="roundRect">
            <a:avLst/>
          </a:prstGeom>
          <a:solidFill>
            <a:srgbClr val="17263C"/>
          </a:solidFill>
          <a:ln w="12700">
            <a:solidFill>
              <a:srgbClr val="2D4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5216" y="1975104"/>
            <a:ext cx="50292" cy="475488"/>
          </a:xfrm>
          <a:prstGeom prst="rect">
            <a:avLst/>
          </a:prstGeom>
          <a:solidFill>
            <a:srgbClr val="45C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6674" y="1970532"/>
            <a:ext cx="30175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45CDDB"/>
                </a:solidFill>
                <a:latin typeface="Aptos"/>
              </a:rPr>
              <a:t>01  SPATIAL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286000"/>
            <a:ext cx="301752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WHERE • Points &amp; polygons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816352"/>
            <a:ext cx="2999232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45CDDB"/>
                </a:solidFill>
                <a:latin typeface="Aptos"/>
              </a:rPr>
              <a:t>PROXIMITY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63240"/>
            <a:ext cx="3008837" cy="3385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F5F8FC"/>
                </a:solidFill>
                <a:latin typeface="Aptos"/>
              </a:rPr>
              <a:t>Find open canteens within a 500 m walking radius</a:t>
            </a:r>
            <a:endParaRPr lang="en-US" sz="1100" b="0" dirty="0">
              <a:solidFill>
                <a:srgbClr val="F5F8FC"/>
              </a:solidFill>
              <a:latin typeface="Aptos"/>
            </a:endParaRPr>
          </a:p>
          <a:p>
            <a:pPr algn="l"/>
            <a:r>
              <a:rPr sz="1100" b="0" dirty="0">
                <a:solidFill>
                  <a:srgbClr val="F5F8FC"/>
                </a:solidFill>
                <a:latin typeface="Aptos"/>
              </a:rPr>
              <a:t> of the hostel.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986784"/>
            <a:ext cx="2999232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45CDDB"/>
                </a:solidFill>
                <a:latin typeface="Aptos"/>
              </a:rPr>
              <a:t>GEOFENCING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4233672"/>
            <a:ext cx="2999232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F5F8FC"/>
                </a:solidFill>
                <a:latin typeface="Aptos"/>
              </a:rPr>
              <a:t>Block checkout when the drop-off pin falls inside a restricted zone.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5266944"/>
            <a:ext cx="2999232" cy="10972"/>
          </a:xfrm>
          <a:prstGeom prst="rect">
            <a:avLst/>
          </a:prstGeom>
          <a:solidFill>
            <a:srgbClr val="3C4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" y="5449824"/>
            <a:ext cx="2999232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B3C2D4"/>
                </a:solidFill>
                <a:latin typeface="Aptos"/>
              </a:rPr>
              <a:t>CUSTOMER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5669279"/>
            <a:ext cx="2999232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0E0AB"/>
                </a:solidFill>
                <a:latin typeface="Aptos"/>
              </a:rPr>
              <a:t>Hotter food • Lower fees • Fewer failed drops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51376" y="1810512"/>
            <a:ext cx="3401568" cy="4407408"/>
          </a:xfrm>
          <a:prstGeom prst="roundRect">
            <a:avLst/>
          </a:prstGeom>
          <a:solidFill>
            <a:srgbClr val="17263C"/>
          </a:solidFill>
          <a:ln w="12700">
            <a:solidFill>
              <a:srgbClr val="2D4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69663" y="1975104"/>
            <a:ext cx="50292" cy="475488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52544" y="1975104"/>
            <a:ext cx="30175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BE5C"/>
                </a:solidFill>
                <a:latin typeface="Aptos"/>
              </a:rPr>
              <a:t>02  TEMPORAL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2544" y="2286000"/>
            <a:ext cx="301752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WHEN • Instants &amp; intervals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2544" y="2816352"/>
            <a:ext cx="2999232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BE5C"/>
                </a:solidFill>
                <a:latin typeface="Aptos"/>
              </a:rPr>
              <a:t>SLA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2544" y="3063240"/>
            <a:ext cx="2258632" cy="3385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F5F8FC"/>
                </a:solidFill>
                <a:latin typeface="Aptos"/>
              </a:rPr>
              <a:t>Measure order duration: </a:t>
            </a:r>
            <a:r>
              <a:rPr sz="1100" b="0" dirty="0" err="1">
                <a:solidFill>
                  <a:srgbClr val="F5F8FC"/>
                </a:solidFill>
                <a:latin typeface="Aptos"/>
              </a:rPr>
              <a:t>created_at</a:t>
            </a:r>
            <a:r>
              <a:rPr sz="1100" b="0" dirty="0">
                <a:solidFill>
                  <a:srgbClr val="F5F8FC"/>
                </a:solidFill>
                <a:latin typeface="Aptos"/>
              </a:rPr>
              <a:t> →</a:t>
            </a:r>
            <a:endParaRPr lang="en-US" sz="1100" b="0" dirty="0">
              <a:solidFill>
                <a:srgbClr val="F5F8FC"/>
              </a:solidFill>
              <a:latin typeface="Aptos"/>
            </a:endParaRPr>
          </a:p>
          <a:p>
            <a:pPr algn="l"/>
            <a:r>
              <a:rPr sz="1100" b="0" dirty="0">
                <a:solidFill>
                  <a:srgbClr val="F5F8FC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F5F8FC"/>
                </a:solidFill>
                <a:latin typeface="Aptos"/>
              </a:rPr>
              <a:t>fulfilled_at</a:t>
            </a:r>
            <a:r>
              <a:rPr sz="1100" b="0" dirty="0">
                <a:solidFill>
                  <a:srgbClr val="F5F8FC"/>
                </a:solidFill>
                <a:latin typeface="Aptos"/>
              </a:rPr>
              <a:t> during lunch peaks.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2544" y="3986784"/>
            <a:ext cx="2999232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BE5C"/>
                </a:solidFill>
                <a:latin typeface="Aptos"/>
              </a:rPr>
              <a:t>DISPUTE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2544" y="4233672"/>
            <a:ext cx="2999232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5F8FC"/>
                </a:solidFill>
                <a:latin typeface="Aptos"/>
              </a:rPr>
              <a:t>Retrieve a driver’s GPS pings from 8:00–8:15 PM.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52544" y="5266944"/>
            <a:ext cx="2999232" cy="10972"/>
          </a:xfrm>
          <a:prstGeom prst="rect">
            <a:avLst/>
          </a:prstGeom>
          <a:solidFill>
            <a:srgbClr val="3C4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52544" y="5449824"/>
            <a:ext cx="2999232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B3C2D4"/>
                </a:solidFill>
                <a:latin typeface="Aptos"/>
              </a:rPr>
              <a:t>CUSTOMER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2544" y="5669279"/>
            <a:ext cx="2999232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0E0AB"/>
                </a:solidFill>
                <a:latin typeface="Aptos"/>
              </a:rPr>
              <a:t>More accurate ETAs • Clear delivery evidence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35824" y="1810512"/>
            <a:ext cx="3401568" cy="4407408"/>
          </a:xfrm>
          <a:prstGeom prst="roundRect">
            <a:avLst/>
          </a:prstGeom>
          <a:solidFill>
            <a:srgbClr val="17263C"/>
          </a:solidFill>
          <a:ln w="12700">
            <a:solidFill>
              <a:srgbClr val="2D4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54112" y="1975104"/>
            <a:ext cx="50292" cy="475488"/>
          </a:xfrm>
          <a:prstGeom prst="rect">
            <a:avLst/>
          </a:prstGeom>
          <a:solidFill>
            <a:srgbClr val="AE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36992" y="1975104"/>
            <a:ext cx="30175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AE92FF"/>
                </a:solidFill>
                <a:latin typeface="Aptos"/>
              </a:rPr>
              <a:t>03  SPATIO-TEMPORAL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2286000"/>
            <a:ext cx="301752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WHERE + WHEN • Moving entities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6992" y="2816352"/>
            <a:ext cx="2999232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AE92FF"/>
                </a:solidFill>
                <a:latin typeface="Aptos"/>
              </a:rPr>
              <a:t>LIVE TRAJECTORY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36992" y="3063240"/>
            <a:ext cx="301752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F5F8FC"/>
                </a:solidFill>
                <a:latin typeface="Aptos"/>
              </a:rPr>
              <a:t>Compare recent driver GPS pings with </a:t>
            </a:r>
            <a:endParaRPr lang="en-US" sz="1100" b="0" dirty="0">
              <a:solidFill>
                <a:srgbClr val="F5F8FC"/>
              </a:solidFill>
              <a:latin typeface="Aptos"/>
            </a:endParaRPr>
          </a:p>
          <a:p>
            <a:pPr algn="l"/>
            <a:r>
              <a:rPr sz="1100" b="0" dirty="0">
                <a:solidFill>
                  <a:srgbClr val="F5F8FC"/>
                </a:solidFill>
                <a:latin typeface="Aptos"/>
              </a:rPr>
              <a:t>campus zones</a:t>
            </a:r>
            <a:r>
              <a:rPr lang="en-US" sz="1100" b="0" dirty="0">
                <a:solidFill>
                  <a:srgbClr val="F5F8FC"/>
                </a:solidFill>
                <a:latin typeface="Aptos"/>
              </a:rPr>
              <a:t> </a:t>
            </a:r>
            <a:r>
              <a:rPr sz="1100" b="0" dirty="0">
                <a:solidFill>
                  <a:srgbClr val="F5F8FC"/>
                </a:solidFill>
                <a:latin typeface="Aptos"/>
              </a:rPr>
              <a:t> and traffic bottlenecks.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36992" y="3986784"/>
            <a:ext cx="2999232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AE92FF"/>
                </a:solidFill>
                <a:latin typeface="Aptos"/>
              </a:rPr>
              <a:t>PREDICT &amp; ALERT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233672"/>
            <a:ext cx="3082575" cy="3385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F5F8FC"/>
                </a:solidFill>
                <a:latin typeface="Aptos"/>
              </a:rPr>
              <a:t>Detect likely delays and send a proactive customer</a:t>
            </a:r>
            <a:endParaRPr lang="en-US" sz="1100" b="0" dirty="0">
              <a:solidFill>
                <a:srgbClr val="F5F8FC"/>
              </a:solidFill>
              <a:latin typeface="Aptos"/>
            </a:endParaRPr>
          </a:p>
          <a:p>
            <a:pPr algn="l"/>
            <a:r>
              <a:rPr sz="1100" b="0" dirty="0">
                <a:solidFill>
                  <a:srgbClr val="F5F8FC"/>
                </a:solidFill>
                <a:latin typeface="Aptos"/>
              </a:rPr>
              <a:t> notification.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36992" y="5266944"/>
            <a:ext cx="2999232" cy="10972"/>
          </a:xfrm>
          <a:prstGeom prst="rect">
            <a:avLst/>
          </a:prstGeom>
          <a:solidFill>
            <a:srgbClr val="3C4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36992" y="5449824"/>
            <a:ext cx="2999232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B3C2D4"/>
                </a:solidFill>
                <a:latin typeface="Aptos"/>
              </a:rPr>
              <a:t>CUSTOMER VALUE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36992" y="5669279"/>
            <a:ext cx="2999232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0E0AB"/>
                </a:solidFill>
                <a:latin typeface="Aptos"/>
              </a:rPr>
              <a:t>Fewer surprises • Better delivery transparency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46520"/>
            <a:ext cx="5405326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dirty="0">
                <a:latin typeface="Aptos"/>
              </a:rPr>
              <a:t>OUTCOME  →  Reliable ETAs, restricted-zone compliance, and proactive delay communication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981700"/>
            <a:ext cx="10972800" cy="41910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09600" y="1295400"/>
            <a:ext cx="5372100" cy="4514850"/>
          </a:xfrm>
          <a:prstGeom prst="roundRect">
            <a:avLst>
              <a:gd name="adj" fmla="val 21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210300" y="1295400"/>
            <a:ext cx="5372100" cy="4514850"/>
          </a:xfrm>
          <a:prstGeom prst="roundRect">
            <a:avLst>
              <a:gd name="adj" fmla="val 21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5981700"/>
            <a:ext cx="38100" cy="419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47725" y="1819275"/>
            <a:ext cx="4895850" cy="1905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48425" y="1819275"/>
            <a:ext cx="4895850" cy="1905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566862"/>
            <a:ext cx="158799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1566862"/>
            <a:ext cx="177849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7700" y="433559"/>
            <a:ext cx="104612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84C7"/>
                </a:solidFill>
                <a:latin typeface="Aptos Display" panose="020B0004020202020204" pitchFamily="34" charset="0"/>
              </a:rPr>
              <a:t>MILESTONE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66750"/>
            <a:ext cx="5172891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System Scope &amp; Main Entities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168" y="6053345"/>
            <a:ext cx="10803663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dirty="0">
                <a:latin typeface="Aptos Display" panose="020B0004020202020204" pitchFamily="34" charset="0"/>
              </a:rPr>
              <a:t>Core distinction: order records discrete transactional milestones; </a:t>
            </a:r>
            <a:r>
              <a:rPr sz="1600" dirty="0" err="1">
                <a:latin typeface="Aptos Display" panose="020B0004020202020204" pitchFamily="34" charset="0"/>
              </a:rPr>
              <a:t>location_trace</a:t>
            </a:r>
            <a:r>
              <a:rPr sz="1600" dirty="0">
                <a:latin typeface="Aptos Display" panose="020B0004020202020204" pitchFamily="34" charset="0"/>
              </a:rPr>
              <a:t> captures driver motion through discrete GPS pings.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724" y="1524715"/>
            <a:ext cx="4993905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u="none">
                <a:solidFill>
                  <a:srgbClr val="0369A1"/>
                </a:solidFill>
                <a:latin typeface="Aptos Display" panose="020B0004020202020204" pitchFamily="34" charset="0"/>
              </a:rPr>
              <a:t>Core Operational 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1952625"/>
            <a:ext cx="3328860" cy="1868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2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restaurant:</a:t>
            </a:r>
            <a:r>
              <a:rPr sz="1200" b="0" i="0" u="none">
                <a:solidFill>
                  <a:srgbClr val="334155"/>
                </a:solidFill>
                <a:latin typeface="Aptos Display" panose="020B0004020202020204" pitchFamily="34" charset="0"/>
              </a:rPr>
              <a:t> Point locations of campus dining facilities.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2260252"/>
            <a:ext cx="3830408" cy="1868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2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menu_item:</a:t>
            </a:r>
            <a:r>
              <a:rPr sz="1200" b="0" i="0" u="none">
                <a:solidFill>
                  <a:srgbClr val="334155"/>
                </a:solidFill>
                <a:latin typeface="Aptos Display" panose="020B0004020202020204" pitchFamily="34" charset="0"/>
              </a:rPr>
              <a:t> Catalog items with preparation times and pricing.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2567880"/>
            <a:ext cx="3288016" cy="1868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2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customer:</a:t>
            </a:r>
            <a:r>
              <a:rPr sz="1200" b="0" i="0" u="none">
                <a:solidFill>
                  <a:srgbClr val="334155"/>
                </a:solidFill>
                <a:latin typeface="Aptos Display" panose="020B0004020202020204" pitchFamily="34" charset="0"/>
              </a:rPr>
              <a:t> Students, staff, and faculty placing orders.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2875508"/>
            <a:ext cx="3659720" cy="1868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2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delivery_location:</a:t>
            </a:r>
            <a:r>
              <a:rPr sz="1200" b="0" i="0" u="none">
                <a:solidFill>
                  <a:srgbClr val="334155"/>
                </a:solidFill>
                <a:latin typeface="Aptos Display" panose="020B0004020202020204" pitchFamily="34" charset="0"/>
              </a:rPr>
              <a:t> Campus drop-off points linked to zones.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183135"/>
            <a:ext cx="3567836" cy="1868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2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campus_zone:</a:t>
            </a:r>
            <a:r>
              <a:rPr sz="1200" b="0" i="0" u="none">
                <a:solidFill>
                  <a:srgbClr val="334155"/>
                </a:solidFill>
                <a:latin typeface="Aptos Display" panose="020B0004020202020204" pitchFamily="34" charset="0"/>
              </a:rPr>
              <a:t> Boundary polygons for spatial partitioning.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2474" y="1524715"/>
            <a:ext cx="497390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u="none">
                <a:solidFill>
                  <a:srgbClr val="0369A1"/>
                </a:solidFill>
                <a:latin typeface="Aptos Display" panose="020B0004020202020204" pitchFamily="34" charset="0"/>
              </a:rPr>
              <a:t>Delivery &amp; Telemetry Tables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8425" y="1952625"/>
            <a:ext cx="3729354" cy="1868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2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driver:</a:t>
            </a:r>
            <a:r>
              <a:rPr sz="1200" b="0" i="0" u="none">
                <a:solidFill>
                  <a:srgbClr val="334155"/>
                </a:solidFill>
                <a:latin typeface="Aptos Display" panose="020B0004020202020204" pitchFamily="34" charset="0"/>
              </a:rPr>
              <a:t> Fleet personnel status (AVAILABLE, BUSY, OFFLINE).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8425" y="2260252"/>
            <a:ext cx="4991100" cy="3792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2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order:</a:t>
            </a:r>
            <a:r>
              <a:rPr sz="1200" b="0" i="0" u="none">
                <a:solidFill>
                  <a:srgbClr val="334155"/>
                </a:solidFill>
                <a:latin typeface="Aptos Display" panose="020B0004020202020204" pitchFamily="34" charset="0"/>
              </a:rPr>
              <a:t> Transactional backbone linking customers, restaurants, drivers, and endpoints.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8425" y="2761208"/>
            <a:ext cx="4291816" cy="1868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2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order_item:</a:t>
            </a:r>
            <a:r>
              <a:rPr sz="1200" b="0" i="0" u="none">
                <a:solidFill>
                  <a:srgbClr val="334155"/>
                </a:solidFill>
                <a:latin typeface="Aptos Display" panose="020B0004020202020204" pitchFamily="34" charset="0"/>
              </a:rPr>
              <a:t> Line items with quantities and historical snapshot prices.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8425" y="3068835"/>
            <a:ext cx="3710118" cy="1868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2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location_trace:</a:t>
            </a:r>
            <a:r>
              <a:rPr sz="1200" b="0" i="0" u="none">
                <a:solidFill>
                  <a:srgbClr val="334155"/>
                </a:solidFill>
                <a:latin typeface="Aptos Display" panose="020B0004020202020204" pitchFamily="34" charset="0"/>
              </a:rPr>
              <a:t> High-frequency streaming GPS coordinates.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38412"/>
            <a:ext cx="2087909" cy="2333625"/>
          </a:xfrm>
          <a:prstGeom prst="roundRect">
            <a:avLst>
              <a:gd name="adj" fmla="val 45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2830859" y="2538412"/>
            <a:ext cx="2087909" cy="2333625"/>
          </a:xfrm>
          <a:prstGeom prst="roundRect">
            <a:avLst>
              <a:gd name="adj" fmla="val 45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52119" y="2538412"/>
            <a:ext cx="2087909" cy="2333625"/>
          </a:xfrm>
          <a:prstGeom prst="roundRect">
            <a:avLst>
              <a:gd name="adj" fmla="val 45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273379" y="2538412"/>
            <a:ext cx="2087909" cy="2333625"/>
          </a:xfrm>
          <a:prstGeom prst="roundRect">
            <a:avLst>
              <a:gd name="adj" fmla="val 45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494639" y="2538412"/>
            <a:ext cx="2087909" cy="2333625"/>
          </a:xfrm>
          <a:prstGeom prst="roundRect">
            <a:avLst>
              <a:gd name="adj" fmla="val 45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1525" y="4443412"/>
            <a:ext cx="1143000" cy="228600"/>
          </a:xfrm>
          <a:prstGeom prst="roundRect">
            <a:avLst>
              <a:gd name="adj" fmla="val 16666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992784" y="4443412"/>
            <a:ext cx="838200" cy="228600"/>
          </a:xfrm>
          <a:prstGeom prst="roundRect">
            <a:avLst>
              <a:gd name="adj" fmla="val 16666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214044" y="4443412"/>
            <a:ext cx="942975" cy="228600"/>
          </a:xfrm>
          <a:prstGeom prst="roundRect">
            <a:avLst>
              <a:gd name="adj" fmla="val 16666"/>
            </a:avLst>
          </a:prstGeom>
          <a:solidFill>
            <a:srgbClr val="FEFCE8"/>
          </a:solidFill>
          <a:ln w="9525">
            <a:solidFill>
              <a:srgbClr val="FEF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435304" y="4443412"/>
            <a:ext cx="1209675" cy="228600"/>
          </a:xfrm>
          <a:prstGeom prst="roundRect">
            <a:avLst>
              <a:gd name="adj" fmla="val 16666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656564" y="4443412"/>
            <a:ext cx="962025" cy="228600"/>
          </a:xfrm>
          <a:prstGeom prst="roundRect">
            <a:avLst>
              <a:gd name="adj" fmla="val 16666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738437"/>
            <a:ext cx="3429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2784" y="2738437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044" y="2738437"/>
            <a:ext cx="342900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5304" y="2738437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564" y="2738437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833687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78509" y="2833687"/>
            <a:ext cx="1714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18819" y="2833687"/>
            <a:ext cx="1333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0554" y="2833687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42289" y="2833687"/>
            <a:ext cx="17145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932474" y="6248400"/>
            <a:ext cx="6327053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 i="0" u="none">
                <a:solidFill>
                  <a:srgbClr val="64748B"/>
                </a:solidFill>
                <a:latin typeface="Aptos Display" panose="020B0004020202020204" pitchFamily="34" charset="0"/>
              </a:rPr>
              <a:t>Design Principle: The database is designed around the questions it must answer — not just the records it stores.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439" y="457200"/>
            <a:ext cx="89800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284C7"/>
                </a:solidFill>
                <a:latin typeface="Aptos Display" panose="020B0004020202020204" pitchFamily="34" charset="0"/>
              </a:rPr>
              <a:t>MILESTONE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66750"/>
            <a:ext cx="3608167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3200" b="1" dirty="0">
                <a:solidFill>
                  <a:srgbClr val="0F172A"/>
                </a:solidFill>
                <a:latin typeface="Aptos Display" panose="020B0004020202020204" pitchFamily="34" charset="0"/>
              </a:rPr>
              <a:t>Expected </a:t>
            </a:r>
            <a:r>
              <a:rPr sz="3200" b="1" i="0" u="none" dirty="0">
                <a:solidFill>
                  <a:srgbClr val="0F172A"/>
                </a:solidFill>
                <a:latin typeface="Aptos Display" panose="020B0004020202020204" pitchFamily="34" charset="0"/>
              </a:rPr>
              <a:t>Workload</a:t>
            </a:r>
            <a:r>
              <a:rPr lang="en-US" sz="3200" b="1" i="0" u="none" dirty="0">
                <a:solidFill>
                  <a:srgbClr val="0F172A"/>
                </a:solidFill>
                <a:latin typeface="Aptos Display" panose="020B0004020202020204" pitchFamily="34" charset="0"/>
              </a:rPr>
              <a:t>s</a:t>
            </a:r>
            <a:endParaRPr sz="3200" b="1" i="0" u="none" dirty="0">
              <a:solidFill>
                <a:srgbClr val="0F172A"/>
              </a:solidFill>
              <a:latin typeface="Aptos Display" panose="020B00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7725" y="4481512"/>
            <a:ext cx="108585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>
                <a:solidFill>
                  <a:srgbClr val="0284C7"/>
                </a:solidFill>
                <a:latin typeface="Aptos Display" panose="020B0004020202020204" pitchFamily="34" charset="0"/>
              </a:rPr>
              <a:t>OLTP Primary Keys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8984" y="4481512"/>
            <a:ext cx="78105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>
                <a:solidFill>
                  <a:srgbClr val="15803D"/>
                </a:solidFill>
                <a:latin typeface="Aptos Display" panose="020B0004020202020204" pitchFamily="34" charset="0"/>
              </a:rPr>
              <a:t>PostGIS GiST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90244" y="4481512"/>
            <a:ext cx="88582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>
                <a:solidFill>
                  <a:srgbClr val="B45309"/>
                </a:solidFill>
                <a:latin typeface="Aptos Display" panose="020B0004020202020204" pitchFamily="34" charset="0"/>
              </a:rPr>
              <a:t>B-Tree Indexes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1504" y="4481512"/>
            <a:ext cx="115252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>
                <a:solidFill>
                  <a:srgbClr val="6D28D9"/>
                </a:solidFill>
                <a:latin typeface="Aptos Display" panose="020B0004020202020204" pitchFamily="34" charset="0"/>
              </a:rPr>
              <a:t>Composite Indexing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2764" y="4481512"/>
            <a:ext cx="90487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>
                <a:solidFill>
                  <a:srgbClr val="0369A1"/>
                </a:solidFill>
                <a:latin typeface="Aptos Display" panose="020B0004020202020204" pitchFamily="34" charset="0"/>
              </a:rPr>
              <a:t>Group-By Aggs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1525" y="3195637"/>
            <a:ext cx="1028230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Operational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1525" y="3452812"/>
            <a:ext cx="1859309" cy="5292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1050" b="0" i="0" u="none" dirty="0">
                <a:solidFill>
                  <a:srgbClr val="64748B"/>
                </a:solidFill>
                <a:latin typeface="Aptos Display" panose="020B0004020202020204" pitchFamily="34" charset="0"/>
              </a:rPr>
              <a:t>Active order lookups, menu browsing, and driver state validation.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92784" y="3195637"/>
            <a:ext cx="61106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Spatial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92784" y="3452812"/>
            <a:ext cx="1859309" cy="5292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1050" b="0" i="0" u="none">
                <a:solidFill>
                  <a:srgbClr val="64748B"/>
                </a:solidFill>
                <a:latin typeface="Aptos Display" panose="020B0004020202020204" pitchFamily="34" charset="0"/>
              </a:rPr>
              <a:t>ST_Contains geofencing and geodesic metric distances in meters.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4044" y="3195637"/>
            <a:ext cx="812723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172A"/>
                </a:solidFill>
                <a:latin typeface="Aptos Display" panose="020B0004020202020204" pitchFamily="34" charset="0"/>
              </a:rPr>
              <a:t>Temporal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4044" y="3452812"/>
            <a:ext cx="1859309" cy="348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1050" b="0" i="0" u="none">
                <a:solidFill>
                  <a:srgbClr val="64748B"/>
                </a:solidFill>
                <a:latin typeface="Aptos Display" panose="020B0004020202020204" pitchFamily="34" charset="0"/>
              </a:rPr>
              <a:t>Fulfillment duration intervals and peak ordering window queries.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35304" y="3195637"/>
            <a:ext cx="143693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 err="1">
                <a:solidFill>
                  <a:srgbClr val="0F172A"/>
                </a:solidFill>
                <a:latin typeface="Aptos Display" panose="020B0004020202020204" pitchFamily="34" charset="0"/>
              </a:rPr>
              <a:t>Spatio</a:t>
            </a:r>
            <a:r>
              <a:rPr sz="1600" b="1" i="0" u="none" dirty="0">
                <a:solidFill>
                  <a:srgbClr val="0F172A"/>
                </a:solidFill>
                <a:latin typeface="Aptos Display" panose="020B0004020202020204" pitchFamily="34" charset="0"/>
              </a:rPr>
              <a:t>-Temporal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35304" y="3452812"/>
            <a:ext cx="1859309" cy="5292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1050" b="0" i="0" u="none">
                <a:solidFill>
                  <a:srgbClr val="64748B"/>
                </a:solidFill>
                <a:latin typeface="Aptos Display" panose="020B0004020202020204" pitchFamily="34" charset="0"/>
              </a:rPr>
              <a:t>Reconstructing trajectory paths with ST_MakeLine ordered by timestamp.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56564" y="3195637"/>
            <a:ext cx="87671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Analytical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56564" y="3452812"/>
            <a:ext cx="1859309" cy="348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1050" b="0" i="0" u="none">
                <a:solidFill>
                  <a:srgbClr val="64748B"/>
                </a:solidFill>
                <a:latin typeface="Aptos Display" panose="020B0004020202020204" pitchFamily="34" charset="0"/>
              </a:rPr>
              <a:t>Aggregations of order volume by campus zone and restaurant.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486890"/>
              </p:ext>
            </p:extLst>
          </p:nvPr>
        </p:nvGraphicFramePr>
        <p:xfrm>
          <a:off x="154546" y="1254443"/>
          <a:ext cx="11822808" cy="5222557"/>
        </p:xfrm>
        <a:graphic>
          <a:graphicData uri="http://schemas.openxmlformats.org/drawingml/2006/table">
            <a:tbl>
              <a:tblPr/>
              <a:tblGrid>
                <a:gridCol w="5135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4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4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0279">
                <a:tc>
                  <a:txBody>
                    <a:bodyPr/>
                    <a:lstStyle/>
                    <a:p>
                      <a:pPr algn="l"/>
                      <a:r>
                        <a:rPr sz="2200" b="1" i="0" u="none" dirty="0">
                          <a:solidFill>
                            <a:srgbClr val="FFFFFF"/>
                          </a:solidFill>
                          <a:latin typeface="Aptos Display" panose="020B0004020202020204" pitchFamily="34" charset="0"/>
                        </a:rPr>
                        <a:t>#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1" i="0" u="none" dirty="0">
                          <a:solidFill>
                            <a:srgbClr val="FFFFFF"/>
                          </a:solidFill>
                          <a:latin typeface="Aptos Display" panose="020B0004020202020204" pitchFamily="34" charset="0"/>
                        </a:rPr>
                        <a:t>Representative Question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0E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1" i="0" u="none" dirty="0">
                          <a:solidFill>
                            <a:srgbClr val="FFFFFF"/>
                          </a:solidFill>
                          <a:latin typeface="Aptos Display" panose="020B0004020202020204" pitchFamily="34" charset="0"/>
                        </a:rPr>
                        <a:t>Workload 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0E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257">
                <a:tc>
                  <a:txBody>
                    <a:bodyPr/>
                    <a:lstStyle/>
                    <a:p>
                      <a:pPr algn="l"/>
                      <a:r>
                        <a:rPr sz="2000" b="1" i="0" u="none" dirty="0">
                          <a:solidFill>
                            <a:srgbClr val="64748B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i="0" u="none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</a:rPr>
                        <a:t>Find menu items and prices for Canteen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 i="0" u="none" dirty="0">
                          <a:solidFill>
                            <a:srgbClr val="0369A1"/>
                          </a:solidFill>
                          <a:latin typeface="Aptos Display" panose="020B0004020202020204" pitchFamily="34" charset="0"/>
                        </a:rPr>
                        <a:t>Operational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257">
                <a:tc>
                  <a:txBody>
                    <a:bodyPr/>
                    <a:lstStyle/>
                    <a:p>
                      <a:pPr algn="l"/>
                      <a:r>
                        <a:rPr sz="2000" b="1" i="0" u="none" dirty="0">
                          <a:solidFill>
                            <a:srgbClr val="64748B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i="0" u="none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</a:rPr>
                        <a:t>Find all drop-off points located inside the Academic Zone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 i="0" u="none">
                          <a:solidFill>
                            <a:srgbClr val="15803D"/>
                          </a:solidFill>
                          <a:latin typeface="Aptos Display" panose="020B0004020202020204" pitchFamily="34" charset="0"/>
                        </a:rPr>
                        <a:t>Spatial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257">
                <a:tc>
                  <a:txBody>
                    <a:bodyPr/>
                    <a:lstStyle/>
                    <a:p>
                      <a:pPr algn="l"/>
                      <a:r>
                        <a:rPr sz="2000" b="1" i="0" u="none" dirty="0">
                          <a:solidFill>
                            <a:srgbClr val="64748B"/>
                          </a:solidFill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i="0" u="none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</a:rPr>
                        <a:t>Find orders placed between 18:00 and 20:00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 i="0" u="none" dirty="0">
                          <a:solidFill>
                            <a:srgbClr val="B45309"/>
                          </a:solidFill>
                          <a:latin typeface="Aptos Display" panose="020B0004020202020204" pitchFamily="34" charset="0"/>
                        </a:rPr>
                        <a:t>Temporal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257">
                <a:tc>
                  <a:txBody>
                    <a:bodyPr/>
                    <a:lstStyle/>
                    <a:p>
                      <a:pPr algn="l"/>
                      <a:r>
                        <a:rPr sz="2000" b="1" i="0" u="none" dirty="0">
                          <a:solidFill>
                            <a:srgbClr val="64748B"/>
                          </a:solidFill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i="0" u="none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</a:rPr>
                        <a:t>Reconstruct driver trajectories and ping counts between 18:00 and 18:45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 i="0" u="none" dirty="0" err="1">
                          <a:solidFill>
                            <a:srgbClr val="7C3AED"/>
                          </a:solidFill>
                          <a:latin typeface="Aptos Display" panose="020B0004020202020204" pitchFamily="34" charset="0"/>
                        </a:rPr>
                        <a:t>Spatio</a:t>
                      </a:r>
                      <a:r>
                        <a:rPr sz="2000" b="1" i="0" u="none" dirty="0">
                          <a:solidFill>
                            <a:srgbClr val="7C3AED"/>
                          </a:solidFill>
                          <a:latin typeface="Aptos Display" panose="020B0004020202020204" pitchFamily="34" charset="0"/>
                        </a:rPr>
                        <a:t>-Temporal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257">
                <a:tc>
                  <a:txBody>
                    <a:bodyPr/>
                    <a:lstStyle/>
                    <a:p>
                      <a:pPr algn="l"/>
                      <a:r>
                        <a:rPr sz="2000" b="1" i="0" u="none">
                          <a:solidFill>
                            <a:srgbClr val="64748B"/>
                          </a:solidFill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i="0" u="none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</a:rPr>
                        <a:t>Find the most frequently ordered menu items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 i="0" u="none">
                          <a:solidFill>
                            <a:srgbClr val="0284C7"/>
                          </a:solidFill>
                          <a:latin typeface="Aptos Display" panose="020B0004020202020204" pitchFamily="34" charset="0"/>
                        </a:rPr>
                        <a:t>Analytical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257">
                <a:tc>
                  <a:txBody>
                    <a:bodyPr/>
                    <a:lstStyle/>
                    <a:p>
                      <a:pPr algn="l"/>
                      <a:r>
                        <a:rPr sz="2000" b="1" i="0" u="none">
                          <a:solidFill>
                            <a:srgbClr val="64748B"/>
                          </a:solidFill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i="0" u="none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</a:rPr>
                        <a:t>Find campus zones with highest volume of deliveries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 i="0" u="none">
                          <a:solidFill>
                            <a:srgbClr val="0284C7"/>
                          </a:solidFill>
                          <a:latin typeface="Aptos Display" panose="020B0004020202020204" pitchFamily="34" charset="0"/>
                        </a:rPr>
                        <a:t>Analytical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257">
                <a:tc>
                  <a:txBody>
                    <a:bodyPr/>
                    <a:lstStyle/>
                    <a:p>
                      <a:pPr algn="l"/>
                      <a:r>
                        <a:rPr sz="2000" b="1" i="0" u="none">
                          <a:solidFill>
                            <a:srgbClr val="64748B"/>
                          </a:solidFill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i="0" u="none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</a:rPr>
                        <a:t>List active orders currently in state PREPARING or IN_TRANSIT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 i="0" u="none">
                          <a:solidFill>
                            <a:srgbClr val="0369A1"/>
                          </a:solidFill>
                          <a:latin typeface="Aptos Display" panose="020B0004020202020204" pitchFamily="34" charset="0"/>
                        </a:rPr>
                        <a:t>Operational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75479">
                <a:tc>
                  <a:txBody>
                    <a:bodyPr/>
                    <a:lstStyle/>
                    <a:p>
                      <a:pPr algn="l"/>
                      <a:r>
                        <a:rPr sz="2000" b="1" i="0" u="none">
                          <a:solidFill>
                            <a:srgbClr val="64748B"/>
                          </a:solidFill>
                          <a:latin typeface="Aptos Display" panose="020B0004020202020204" pitchFamily="34" charset="0"/>
                        </a:rPr>
                        <a:t>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i="0" u="none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</a:rPr>
                        <a:t>Calculate average delivery fulfillment time per restaurant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 i="0" u="none" dirty="0">
                          <a:solidFill>
                            <a:srgbClr val="B45309"/>
                          </a:solidFill>
                          <a:latin typeface="Aptos Display" panose="020B0004020202020204" pitchFamily="34" charset="0"/>
                        </a:rPr>
                        <a:t>Temporal / Analytical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381000"/>
            <a:ext cx="104612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284C7"/>
                </a:solidFill>
                <a:latin typeface="Aptos Display" panose="020B0004020202020204" pitchFamily="34" charset="0"/>
              </a:rPr>
              <a:t>MILESTONE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571500"/>
            <a:ext cx="5556778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Representative Query Workload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77353C-497D-1311-1630-1AE9A703E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45" y="1763581"/>
            <a:ext cx="12003109" cy="498725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B4BA659-17B7-190F-0EB0-DD93E6D9EC09}"/>
              </a:ext>
            </a:extLst>
          </p:cNvPr>
          <p:cNvSpPr/>
          <p:nvPr/>
        </p:nvSpPr>
        <p:spPr>
          <a:xfrm>
            <a:off x="182453" y="148118"/>
            <a:ext cx="45719" cy="521584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Aptos Display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5AE3E1-984E-A8E8-5A3B-365F7A235718}"/>
              </a:ext>
            </a:extLst>
          </p:cNvPr>
          <p:cNvSpPr txBox="1"/>
          <p:nvPr/>
        </p:nvSpPr>
        <p:spPr>
          <a:xfrm>
            <a:off x="143818" y="109481"/>
            <a:ext cx="23933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284C7"/>
                </a:solidFill>
                <a:latin typeface="Aptos Display" panose="020B0004020202020204" pitchFamily="34" charset="0"/>
              </a:rPr>
              <a:t>ER-Diagram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9DBFA9-2CF7-FC84-E351-6A6451D7ABEF}"/>
              </a:ext>
            </a:extLst>
          </p:cNvPr>
          <p:cNvSpPr txBox="1"/>
          <p:nvPr/>
        </p:nvSpPr>
        <p:spPr>
          <a:xfrm>
            <a:off x="182453" y="1268569"/>
            <a:ext cx="7052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https://chirantan17.github.io/campus-spatiotemporal-delivery-Mid-Sem/</a:t>
            </a:r>
          </a:p>
        </p:txBody>
      </p:sp>
    </p:spTree>
    <p:extLst>
      <p:ext uri="{BB962C8B-B14F-4D97-AF65-F5344CB8AC3E}">
        <p14:creationId xmlns:p14="http://schemas.microsoft.com/office/powerpoint/2010/main" val="3882855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361854"/>
            <a:ext cx="10972800" cy="972740"/>
          </a:xfrm>
          <a:prstGeom prst="roundRect">
            <a:avLst>
              <a:gd name="adj" fmla="val 78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09600" y="2361604"/>
            <a:ext cx="5400675" cy="752475"/>
          </a:xfrm>
          <a:prstGeom prst="roundRect">
            <a:avLst>
              <a:gd name="adj" fmla="val 101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181725" y="2361604"/>
            <a:ext cx="5400675" cy="752475"/>
          </a:xfrm>
          <a:prstGeom prst="roundRect">
            <a:avLst>
              <a:gd name="adj" fmla="val 101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9600" y="3285529"/>
            <a:ext cx="5400675" cy="904875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81725" y="3285529"/>
            <a:ext cx="5400675" cy="904875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9600" y="532507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" y="4361854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" y="4361854"/>
            <a:ext cx="38100" cy="9727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572875" y="4361854"/>
            <a:ext cx="9525" cy="9727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9600" y="3104554"/>
            <a:ext cx="54006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9600" y="2361604"/>
            <a:ext cx="54006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2361604"/>
            <a:ext cx="38100" cy="7524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00750" y="2361604"/>
            <a:ext cx="9525" cy="7524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181725" y="3104554"/>
            <a:ext cx="54006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81725" y="2361604"/>
            <a:ext cx="54006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81725" y="2361604"/>
            <a:ext cx="38100" cy="7524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1572875" y="2361604"/>
            <a:ext cx="9525" cy="7524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09600" y="4180879"/>
            <a:ext cx="54006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09600" y="3285529"/>
            <a:ext cx="54006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9600" y="3285529"/>
            <a:ext cx="38100" cy="9048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000750" y="3285529"/>
            <a:ext cx="9525" cy="904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181725" y="4180879"/>
            <a:ext cx="54006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181725" y="3285529"/>
            <a:ext cx="54006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181725" y="3285529"/>
            <a:ext cx="38100" cy="9048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1572875" y="3285529"/>
            <a:ext cx="9525" cy="904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9600" y="457200"/>
            <a:ext cx="89800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284C7"/>
                </a:solidFill>
                <a:latin typeface="Aptos Display" panose="020B0004020202020204" pitchFamily="34" charset="0"/>
              </a:rPr>
              <a:t>MILESTONE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647700"/>
            <a:ext cx="6918112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Aptos Display" panose="020B0004020202020204" pitchFamily="34" charset="0"/>
              </a:rPr>
              <a:t>Key Relations &amp; Attribute Specifications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250" y="4542829"/>
            <a:ext cx="234955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order (Central Transaction)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250" y="4780954"/>
            <a:ext cx="106013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100" b="0" i="0" u="none">
                <a:solidFill>
                  <a:srgbClr val="475569"/>
                </a:solidFill>
                <a:latin typeface="Aptos Display" panose="020B0004020202020204" pitchFamily="34" charset="0"/>
              </a:rPr>
              <a:t>order_id (PK), customer_id (FK), restaurant_id (FK), driver_id (FK), destination_id (FK), status (CHECK: PENDING, PREPARING, IN_TRANSIT, DELIVERED, CANCELLED), created_at (TIMESTAMPTZ), fulfilled_at (TIMESTAMPTZ).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250" y="2542579"/>
            <a:ext cx="120706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campus_zone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7250" y="2780704"/>
            <a:ext cx="3775072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i="0" u="none">
                <a:solidFill>
                  <a:srgbClr val="475569"/>
                </a:solidFill>
                <a:latin typeface="Aptos Display" panose="020B0004020202020204" pitchFamily="34" charset="0"/>
              </a:rPr>
              <a:t>zone_id (PK), zone_name, boundary (GEOMETRY(Polygon, 4326)).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9375" y="2542579"/>
            <a:ext cx="259250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restaurant &amp; delivery_location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9375" y="2780704"/>
            <a:ext cx="4036361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i="0" u="none">
                <a:solidFill>
                  <a:srgbClr val="475569"/>
                </a:solidFill>
                <a:latin typeface="Aptos Display" panose="020B0004020202020204" pitchFamily="34" charset="0"/>
              </a:rPr>
              <a:t>IDs (PK), zone_id (FK), name, location/point (GEOMETRY(Point, 4326)).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250" y="3466504"/>
            <a:ext cx="50622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driver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7250" y="3704629"/>
            <a:ext cx="4251164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i="0" u="none">
                <a:solidFill>
                  <a:srgbClr val="475569"/>
                </a:solidFill>
                <a:latin typeface="Aptos Display" panose="020B0004020202020204" pitchFamily="34" charset="0"/>
              </a:rPr>
              <a:t>driver_id (PK), name, phone, status (CHECK: AVAILABLE, BUSY, OFFLINE).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9375" y="3466504"/>
            <a:ext cx="125252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location_trace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9375" y="3704629"/>
            <a:ext cx="5029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u="none">
                <a:solidFill>
                  <a:srgbClr val="475569"/>
                </a:solidFill>
                <a:latin typeface="Aptos Display" panose="020B0004020202020204" pitchFamily="34" charset="0"/>
              </a:rPr>
              <a:t>trace_id (BIGINT, PK), driver_id (FK), location (Point, 4326), recorded_at (TIMESTAMPTZ).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849D5A-1517-CB4E-6726-15909B1FECBD}"/>
              </a:ext>
            </a:extLst>
          </p:cNvPr>
          <p:cNvSpPr txBox="1"/>
          <p:nvPr/>
        </p:nvSpPr>
        <p:spPr>
          <a:xfrm>
            <a:off x="1223493" y="6001555"/>
            <a:ext cx="5575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 description of every table what and why it is storing..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14450"/>
            <a:ext cx="5372100" cy="5086350"/>
          </a:xfrm>
          <a:prstGeom prst="roundRect">
            <a:avLst>
              <a:gd name="adj" fmla="val 187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210300" y="1314450"/>
            <a:ext cx="5372100" cy="5086350"/>
          </a:xfrm>
          <a:prstGeom prst="roundRect">
            <a:avLst>
              <a:gd name="adj" fmla="val 187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04612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284C7"/>
                </a:solidFill>
                <a:latin typeface="Aptos Display" panose="020B0004020202020204" pitchFamily="34" charset="0"/>
              </a:rPr>
              <a:t>MILESTONE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7700"/>
            <a:ext cx="4886722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Spatial Data Representation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5981700"/>
            <a:ext cx="206146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Aptos Display" panose="020B0004020202020204" pitchFamily="34" charset="0"/>
              </a:rPr>
              <a:t>WGS 84 STANDARD COORDINATES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6525" y="5981700"/>
            <a:ext cx="171521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Aptos Display" panose="020B0004020202020204" pitchFamily="34" charset="0"/>
              </a:rPr>
              <a:t>POSTGIS NATIVE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1590675"/>
            <a:ext cx="239328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0284C7"/>
                </a:solidFill>
                <a:latin typeface="Aptos Display" panose="020B0004020202020204" pitchFamily="34" charset="0"/>
              </a:rPr>
              <a:t>Geometries (SRID 4326)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6525" y="1590675"/>
            <a:ext cx="275729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0284C7"/>
                </a:solidFill>
                <a:latin typeface="Aptos Display" panose="020B0004020202020204" pitchFamily="34" charset="0"/>
              </a:rPr>
              <a:t>Spatial Capabilities Enabled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1981200"/>
            <a:ext cx="3947747" cy="1868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2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restaurant.location:</a:t>
            </a:r>
            <a:r>
              <a:rPr sz="1200" b="0" i="0" u="none">
                <a:solidFill>
                  <a:srgbClr val="334155"/>
                </a:solidFill>
                <a:latin typeface="Aptos Display" panose="020B0004020202020204" pitchFamily="34" charset="0"/>
              </a:rPr>
              <a:t> Point geometry of food preparation outlets.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2288827"/>
            <a:ext cx="3998210" cy="1868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2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delivery_location.point:</a:t>
            </a:r>
            <a:r>
              <a:rPr sz="1200" b="0" i="0" u="none">
                <a:solidFill>
                  <a:srgbClr val="334155"/>
                </a:solidFill>
                <a:latin typeface="Aptos Display" panose="020B0004020202020204" pitchFamily="34" charset="0"/>
              </a:rPr>
              <a:t> Point geometry of designated drop-offs.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2596455"/>
            <a:ext cx="3996287" cy="1868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2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campus_zone.boundary:</a:t>
            </a:r>
            <a:r>
              <a:rPr sz="1200" b="0" i="0" u="none">
                <a:solidFill>
                  <a:srgbClr val="334155"/>
                </a:solidFill>
                <a:latin typeface="Aptos Display" panose="020B0004020202020204" pitchFamily="34" charset="0"/>
              </a:rPr>
              <a:t> Polygon geofences of campus sectors.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2904083"/>
            <a:ext cx="3700821" cy="1868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2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location_trace.location:</a:t>
            </a:r>
            <a:r>
              <a:rPr sz="1200" b="0" i="0" u="none">
                <a:solidFill>
                  <a:srgbClr val="334155"/>
                </a:solidFill>
                <a:latin typeface="Aptos Display" panose="020B0004020202020204" pitchFamily="34" charset="0"/>
              </a:rPr>
              <a:t> High-frequency GPS observations.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1981200"/>
            <a:ext cx="4914900" cy="1868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2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Topological Ingestion:</a:t>
            </a:r>
            <a:r>
              <a:rPr sz="1200" b="0" i="0" u="none">
                <a:solidFill>
                  <a:srgbClr val="334155"/>
                </a:solidFill>
                <a:latin typeface="Aptos Display" panose="020B0004020202020204" pitchFamily="34" charset="0"/>
              </a:rPr>
              <a:t> Validate drop-offs within geofences using </a:t>
            </a:r>
            <a:r>
              <a:rPr sz="1200" b="0" i="0" u="none">
                <a:solidFill>
                  <a:srgbClr val="0284C7"/>
                </a:solidFill>
                <a:latin typeface="Aptos Display" panose="020B0004020202020204" pitchFamily="34" charset="0"/>
              </a:rPr>
              <a:t>ST_Contains</a:t>
            </a:r>
            <a:r>
              <a:rPr sz="1200" b="0" i="0" u="none">
                <a:solidFill>
                  <a:srgbClr val="334155"/>
                </a:solidFill>
                <a:latin typeface="Aptos Display" panose="020B0004020202020204" pitchFamily="34" charset="0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2482155"/>
            <a:ext cx="49149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2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Metric Distance:</a:t>
            </a:r>
            <a:r>
              <a:rPr sz="1200" b="0" i="0" u="none">
                <a:solidFill>
                  <a:srgbClr val="334155"/>
                </a:solidFill>
                <a:latin typeface="Aptos Display" panose="020B0004020202020204" pitchFamily="34" charset="0"/>
              </a:rPr>
              <a:t> Cast to geography (</a:t>
            </a:r>
            <a:r>
              <a:rPr sz="1200" b="0" i="0" u="none">
                <a:solidFill>
                  <a:srgbClr val="0284C7"/>
                </a:solidFill>
                <a:latin typeface="Aptos Display" panose="020B0004020202020204" pitchFamily="34" charset="0"/>
              </a:rPr>
              <a:t>::geography</a:t>
            </a:r>
            <a:r>
              <a:rPr sz="1200" b="0" i="0" u="none">
                <a:solidFill>
                  <a:srgbClr val="334155"/>
                </a:solidFill>
                <a:latin typeface="Aptos Display" panose="020B0004020202020204" pitchFamily="34" charset="0"/>
              </a:rPr>
              <a:t>) for accurate meter calculations (</a:t>
            </a:r>
            <a:r>
              <a:rPr sz="1200" b="0" i="0" u="none">
                <a:solidFill>
                  <a:srgbClr val="0284C7"/>
                </a:solidFill>
                <a:latin typeface="Aptos Display" panose="020B0004020202020204" pitchFamily="34" charset="0"/>
              </a:rPr>
              <a:t>ST_Distance</a:t>
            </a:r>
            <a:r>
              <a:rPr sz="1200" b="0" i="0" u="none">
                <a:solidFill>
                  <a:srgbClr val="334155"/>
                </a:solidFill>
                <a:latin typeface="Aptos Display" panose="020B0004020202020204" pitchFamily="34" charset="0"/>
              </a:rPr>
              <a:t>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2983110"/>
            <a:ext cx="4427622" cy="1868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2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KNN Search:</a:t>
            </a:r>
            <a:r>
              <a:rPr sz="1200" b="0" i="0" u="none">
                <a:solidFill>
                  <a:srgbClr val="334155"/>
                </a:solidFill>
                <a:latin typeface="Aptos Display" panose="020B0004020202020204" pitchFamily="34" charset="0"/>
              </a:rPr>
              <a:t> Index-accelerated operator (</a:t>
            </a:r>
            <a:r>
              <a:rPr sz="1200" b="0" i="0" u="none">
                <a:solidFill>
                  <a:srgbClr val="0284C7"/>
                </a:solidFill>
                <a:latin typeface="Aptos Display" panose="020B0004020202020204" pitchFamily="34" charset="0"/>
              </a:rPr>
              <a:t>&lt;-&gt;</a:t>
            </a:r>
            <a:r>
              <a:rPr sz="1200" b="0" i="0" u="none">
                <a:solidFill>
                  <a:srgbClr val="334155"/>
                </a:solidFill>
                <a:latin typeface="Aptos Display" panose="020B0004020202020204" pitchFamily="34" charset="0"/>
              </a:rPr>
              <a:t>) to find the nearest driver.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4322B7-3DFE-19E5-04E4-868D8C2FE3AA}"/>
              </a:ext>
            </a:extLst>
          </p:cNvPr>
          <p:cNvSpPr txBox="1"/>
          <p:nvPr/>
        </p:nvSpPr>
        <p:spPr>
          <a:xfrm>
            <a:off x="6210300" y="457200"/>
            <a:ext cx="4152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Simplify in </a:t>
            </a:r>
            <a:r>
              <a:rPr lang="en-US" dirty="0" err="1"/>
              <a:t>leyaman</a:t>
            </a:r>
            <a:r>
              <a:rPr lang="en-US" dirty="0"/>
              <a:t> terms—developer </a:t>
            </a:r>
            <a:r>
              <a:rPr lang="en-US" dirty="0" err="1"/>
              <a:t>pov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52675"/>
            <a:ext cx="10972800" cy="4048125"/>
          </a:xfrm>
          <a:prstGeom prst="roundRect">
            <a:avLst>
              <a:gd name="adj" fmla="val 2352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09600" y="1314450"/>
            <a:ext cx="3530649" cy="809625"/>
          </a:xfrm>
          <a:prstGeom prst="roundRect">
            <a:avLst>
              <a:gd name="adj" fmla="val 94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330749" y="1314450"/>
            <a:ext cx="3530649" cy="809625"/>
          </a:xfrm>
          <a:prstGeom prst="roundRect">
            <a:avLst>
              <a:gd name="adj" fmla="val 94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51899" y="1314450"/>
            <a:ext cx="3530649" cy="809625"/>
          </a:xfrm>
          <a:prstGeom prst="roundRect">
            <a:avLst>
              <a:gd name="adj" fmla="val 94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81075" y="4005262"/>
            <a:ext cx="1038225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9600" y="2114550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" y="1314450"/>
            <a:ext cx="3530649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" y="1314450"/>
            <a:ext cx="9525" cy="809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30724" y="1314450"/>
            <a:ext cx="9525" cy="809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30749" y="2114550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30749" y="1314450"/>
            <a:ext cx="3530649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30749" y="1314450"/>
            <a:ext cx="9525" cy="809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851874" y="1314450"/>
            <a:ext cx="9525" cy="809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51899" y="2114550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051899" y="1314450"/>
            <a:ext cx="3530649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51899" y="1314450"/>
            <a:ext cx="9525" cy="809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1573023" y="1314450"/>
            <a:ext cx="9525" cy="809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943100" y="4367212"/>
            <a:ext cx="37719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629400" y="4367212"/>
            <a:ext cx="3590925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967037" y="4305300"/>
            <a:ext cx="1724025" cy="142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653337" y="4305300"/>
            <a:ext cx="1543050" cy="142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9600" y="457200"/>
            <a:ext cx="104612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284C7"/>
                </a:solidFill>
                <a:latin typeface="Aptos Display" panose="020B0004020202020204" pitchFamily="34" charset="0"/>
              </a:rPr>
              <a:t>MILESTONE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47700"/>
            <a:ext cx="5288435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Aptos Display" panose="020B0004020202020204" pitchFamily="34" charset="0"/>
              </a:rPr>
              <a:t>Temporal Data Representation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075" y="3681412"/>
            <a:ext cx="372852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369A1"/>
                </a:solidFill>
                <a:latin typeface="Aptos Display" panose="020B0004020202020204" pitchFamily="34" charset="0"/>
              </a:rPr>
              <a:t>DELIVERY LIFECYCLE &amp; TIME-WINDOW SLICING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4093" y="4881562"/>
            <a:ext cx="714381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 i="0" u="none" dirty="0">
                <a:solidFill>
                  <a:srgbClr val="0369A1"/>
                </a:solidFill>
                <a:latin typeface="Aptos Display" panose="020B0004020202020204" pitchFamily="34" charset="0"/>
              </a:rPr>
              <a:t>Interval calculation: </a:t>
            </a:r>
            <a:r>
              <a:rPr sz="1400" b="1" i="0" u="none" dirty="0" err="1">
                <a:solidFill>
                  <a:srgbClr val="0369A1"/>
                </a:solidFill>
                <a:latin typeface="Aptos Display" panose="020B0004020202020204" pitchFamily="34" charset="0"/>
              </a:rPr>
              <a:t>fulfilled_at</a:t>
            </a:r>
            <a:r>
              <a:rPr sz="1400" b="1" i="0" u="none" dirty="0">
                <a:solidFill>
                  <a:srgbClr val="0369A1"/>
                </a:solidFill>
                <a:latin typeface="Aptos Display" panose="020B0004020202020204" pitchFamily="34" charset="0"/>
              </a:rPr>
              <a:t> - </a:t>
            </a:r>
            <a:r>
              <a:rPr sz="1400" b="1" i="0" u="none" dirty="0" err="1">
                <a:solidFill>
                  <a:srgbClr val="0369A1"/>
                </a:solidFill>
                <a:latin typeface="Aptos Display" panose="020B0004020202020204" pitchFamily="34" charset="0"/>
              </a:rPr>
              <a:t>created_at</a:t>
            </a:r>
            <a:r>
              <a:rPr sz="1400" b="0" i="0" u="none" dirty="0">
                <a:solidFill>
                  <a:srgbClr val="0369A1"/>
                </a:solidFill>
                <a:latin typeface="Aptos Display" panose="020B0004020202020204" pitchFamily="34" charset="0"/>
              </a:rPr>
              <a:t> • Slicing: </a:t>
            </a:r>
            <a:r>
              <a:rPr sz="1400" b="1" i="0" u="none" dirty="0" err="1">
                <a:solidFill>
                  <a:srgbClr val="0369A1"/>
                </a:solidFill>
                <a:latin typeface="Aptos Display" panose="020B0004020202020204" pitchFamily="34" charset="0"/>
              </a:rPr>
              <a:t>recorded_at</a:t>
            </a:r>
            <a:r>
              <a:rPr sz="1400" b="1" i="0" u="none" dirty="0">
                <a:solidFill>
                  <a:srgbClr val="0369A1"/>
                </a:solidFill>
                <a:latin typeface="Aptos Display" panose="020B0004020202020204" pitchFamily="34" charset="0"/>
              </a:rPr>
              <a:t> BETWEEN </a:t>
            </a:r>
            <a:r>
              <a:rPr sz="1400" b="1" i="0" u="none" dirty="0" err="1">
                <a:solidFill>
                  <a:srgbClr val="0369A1"/>
                </a:solidFill>
                <a:latin typeface="Aptos Display" panose="020B0004020202020204" pitchFamily="34" charset="0"/>
              </a:rPr>
              <a:t>T_start</a:t>
            </a:r>
            <a:r>
              <a:rPr sz="1400" b="1" i="0" u="none" dirty="0">
                <a:solidFill>
                  <a:srgbClr val="0369A1"/>
                </a:solidFill>
                <a:latin typeface="Aptos Display" panose="020B0004020202020204" pitchFamily="34" charset="0"/>
              </a:rPr>
              <a:t> AND </a:t>
            </a:r>
            <a:r>
              <a:rPr sz="1400" b="1" i="0" u="none" dirty="0" err="1">
                <a:solidFill>
                  <a:srgbClr val="0369A1"/>
                </a:solidFill>
                <a:latin typeface="Aptos Display" panose="020B0004020202020204" pitchFamily="34" charset="0"/>
              </a:rPr>
              <a:t>T_end</a:t>
            </a:r>
            <a:endParaRPr sz="1400" b="1" i="0" u="none" dirty="0">
              <a:solidFill>
                <a:srgbClr val="0369A1"/>
              </a:solidFill>
              <a:latin typeface="Aptos Display" panose="020B00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9625" y="1533525"/>
            <a:ext cx="141833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order.created_at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625" y="1771650"/>
            <a:ext cx="157735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Aptos Display" panose="020B0004020202020204" pitchFamily="34" charset="0"/>
              </a:rPr>
              <a:t>Order placement timestamp.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0774" y="1533525"/>
            <a:ext cx="144302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order.fulfilled_at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0774" y="1771650"/>
            <a:ext cx="232435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Aptos Display" panose="020B0004020202020204" pitchFamily="34" charset="0"/>
              </a:rPr>
              <a:t>Order fulfillment timestamp</a:t>
            </a:r>
            <a:r>
              <a:rPr lang="en-IN" sz="1050" b="0" i="0" u="none" dirty="0">
                <a:solidFill>
                  <a:srgbClr val="64748B"/>
                </a:solidFill>
                <a:latin typeface="Aptos Display" panose="020B0004020202020204" pitchFamily="34" charset="0"/>
              </a:rPr>
              <a:t> in UTC epoch</a:t>
            </a:r>
            <a:r>
              <a:rPr sz="1050" b="0" i="0" u="none" dirty="0">
                <a:solidFill>
                  <a:srgbClr val="64748B"/>
                </a:solidFill>
                <a:latin typeface="Aptos Display" panose="020B0004020202020204" pitchFamily="34" charset="0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1924" y="1533525"/>
            <a:ext cx="235147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location_trace.recorded_at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1924" y="1771650"/>
            <a:ext cx="227626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Aptos Display" panose="020B0004020202020204" pitchFamily="34" charset="0"/>
              </a:rPr>
              <a:t>Timestamped GPS telemetry observation.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9307" y="4205287"/>
            <a:ext cx="63318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[18:00]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8096" y="4456099"/>
            <a:ext cx="44242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 dirty="0">
                <a:solidFill>
                  <a:srgbClr val="64748B"/>
                </a:solidFill>
                <a:latin typeface="Aptos Display" panose="020B0004020202020204" pitchFamily="34" charset="0"/>
              </a:rPr>
              <a:t>Created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2287" y="4305300"/>
            <a:ext cx="160620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Aptos Display" panose="020B0004020202020204" pitchFamily="34" charset="0"/>
              </a:rPr>
              <a:t>In-Transit Telemetry Stream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5607" y="4205287"/>
            <a:ext cx="63318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[18:15]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22215" y="4423885"/>
            <a:ext cx="50975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 dirty="0">
                <a:solidFill>
                  <a:srgbClr val="64748B"/>
                </a:solidFill>
                <a:latin typeface="Aptos Display" panose="020B0004020202020204" pitchFamily="34" charset="0"/>
              </a:rPr>
              <a:t>In Transit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48587" y="4305300"/>
            <a:ext cx="139461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Aptos Display" panose="020B0004020202020204" pitchFamily="34" charset="0"/>
              </a:rPr>
              <a:t>Derived Delivery Interval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75219" y="4205287"/>
            <a:ext cx="63318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[18:35]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9722" y="4423617"/>
            <a:ext cx="52418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 dirty="0">
                <a:solidFill>
                  <a:srgbClr val="64748B"/>
                </a:solidFill>
                <a:latin typeface="Aptos Display" panose="020B0004020202020204" pitchFamily="34" charset="0"/>
              </a:rPr>
              <a:t>Delivered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95400"/>
            <a:ext cx="5372100" cy="5105400"/>
          </a:xfrm>
          <a:prstGeom prst="roundRect">
            <a:avLst>
              <a:gd name="adj" fmla="val 18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210300" y="1295400"/>
            <a:ext cx="5372100" cy="5105400"/>
          </a:xfrm>
          <a:prstGeom prst="roundRect">
            <a:avLst>
              <a:gd name="adj" fmla="val 18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66775" y="5762625"/>
            <a:ext cx="4857750" cy="38100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66775" y="5762625"/>
            <a:ext cx="28575" cy="381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67475" y="2419350"/>
            <a:ext cx="4857750" cy="447675"/>
          </a:xfrm>
          <a:prstGeom prst="roundRect">
            <a:avLst>
              <a:gd name="adj" fmla="val 17021"/>
            </a:avLst>
          </a:prstGeom>
          <a:solidFill>
            <a:srgbClr val="090E1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839" y="5886450"/>
            <a:ext cx="3222873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89800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284C7"/>
                </a:solidFill>
                <a:latin typeface="Aptos Display" panose="020B0004020202020204" pitchFamily="34" charset="0"/>
              </a:rPr>
              <a:t>MILESTONE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7700"/>
            <a:ext cx="5276957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Aptos Display" panose="020B0004020202020204" pitchFamily="34" charset="0"/>
              </a:rPr>
              <a:t>Unified </a:t>
            </a:r>
            <a:r>
              <a:rPr sz="3200" b="1" i="0" u="none" dirty="0" err="1">
                <a:solidFill>
                  <a:srgbClr val="0F172A"/>
                </a:solidFill>
                <a:latin typeface="Aptos Display" panose="020B0004020202020204" pitchFamily="34" charset="0"/>
              </a:rPr>
              <a:t>Spatio</a:t>
            </a:r>
            <a:r>
              <a:rPr sz="3200" b="1" i="0" u="none" dirty="0">
                <a:solidFill>
                  <a:srgbClr val="0F172A"/>
                </a:solidFill>
                <a:latin typeface="Aptos Display" panose="020B0004020202020204" pitchFamily="34" charset="0"/>
              </a:rPr>
              <a:t>-Temporal 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175" y="5876925"/>
            <a:ext cx="4648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Aptos Display" panose="020B0004020202020204" pitchFamily="34" charset="0"/>
              </a:rPr>
              <a:t>Each telemetry observation combines a spatial point (x, y) with a timestamp (t).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1552575"/>
            <a:ext cx="220098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Telemetry Event Instance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7475" y="1552575"/>
            <a:ext cx="226946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600" b="1" i="0" u="none" dirty="0">
                <a:solidFill>
                  <a:srgbClr val="0F172A"/>
                </a:solidFill>
                <a:latin typeface="Aptos Display" panose="020B0004020202020204" pitchFamily="34" charset="0"/>
              </a:rPr>
              <a:t>Real Time Driver Location </a:t>
            </a:r>
            <a:endParaRPr sz="1600" b="1" i="0" u="none" dirty="0">
              <a:solidFill>
                <a:srgbClr val="0F172A"/>
              </a:solidFill>
              <a:latin typeface="Aptos Display" panose="020B00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67475" y="1905000"/>
            <a:ext cx="4953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200" b="0" i="0" u="none" dirty="0">
                <a:solidFill>
                  <a:srgbClr val="475569"/>
                </a:solidFill>
                <a:latin typeface="Aptos Display" panose="020B0004020202020204" pitchFamily="34" charset="0"/>
              </a:rPr>
              <a:t>Synthesize continuous motion trajectories from discrete pings using </a:t>
            </a:r>
            <a:r>
              <a:rPr sz="1200" b="0" i="0" u="none" dirty="0" err="1">
                <a:solidFill>
                  <a:srgbClr val="475569"/>
                </a:solidFill>
                <a:latin typeface="Aptos Display" panose="020B0004020202020204" pitchFamily="34" charset="0"/>
              </a:rPr>
              <a:t>PostGIS</a:t>
            </a:r>
            <a:r>
              <a:rPr sz="1200" b="0" i="0" u="none" dirty="0">
                <a:solidFill>
                  <a:srgbClr val="475569"/>
                </a:solidFill>
                <a:latin typeface="Aptos Display" panose="020B0004020202020204" pitchFamily="34" charset="0"/>
              </a:rPr>
              <a:t> trajectory aggregators: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9875" y="2552700"/>
            <a:ext cx="4648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Aptos Display" panose="020B0004020202020204" pitchFamily="34" charset="0"/>
              </a:rPr>
              <a:t>ST_MakeLine(location ORDER BY recorded_at)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775" y="1905000"/>
            <a:ext cx="382675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Driver / Customer:</a:t>
            </a:r>
            <a:r>
              <a:rPr sz="1200" b="0" i="0" u="none">
                <a:solidFill>
                  <a:srgbClr val="475569"/>
                </a:solidFill>
                <a:latin typeface="Aptos Display" panose="020B0004020202020204" pitchFamily="34" charset="0"/>
              </a:rPr>
              <a:t> Driver Anita (ID: 3) / Amit Verma (ID: 104)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" y="2162175"/>
            <a:ext cx="328012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Location (Point): </a:t>
            </a:r>
            <a:r>
              <a:rPr sz="1200" b="1" i="0" u="none">
                <a:solidFill>
                  <a:srgbClr val="0284C7"/>
                </a:solidFill>
                <a:latin typeface="Aptos Display" panose="020B0004020202020204" pitchFamily="34" charset="0"/>
              </a:rPr>
              <a:t>ST_MakePoint(78.5480, 17.5230)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75" y="2428875"/>
            <a:ext cx="325409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Zone (Polygon):</a:t>
            </a:r>
            <a:r>
              <a:rPr sz="1200" b="0" i="0" u="none">
                <a:solidFill>
                  <a:srgbClr val="475569"/>
                </a:solidFill>
                <a:latin typeface="Aptos Display" panose="020B0004020202020204" pitchFamily="34" charset="0"/>
              </a:rPr>
              <a:t> Hostel Zone A Geofenced 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775" y="2686050"/>
            <a:ext cx="262418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Time (Instant): </a:t>
            </a:r>
            <a:r>
              <a:rPr sz="1200" b="1" i="0" u="none">
                <a:solidFill>
                  <a:srgbClr val="0284C7"/>
                </a:solidFill>
                <a:latin typeface="Aptos Display" panose="020B0004020202020204" pitchFamily="34" charset="0"/>
              </a:rPr>
              <a:t>2026-09-23 18:26:40+00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28912"/>
            <a:ext cx="2072580" cy="2238375"/>
          </a:xfrm>
          <a:prstGeom prst="roundRect">
            <a:avLst>
              <a:gd name="adj" fmla="val 45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2834580" y="2728912"/>
            <a:ext cx="2072580" cy="2238375"/>
          </a:xfrm>
          <a:prstGeom prst="roundRect">
            <a:avLst>
              <a:gd name="adj" fmla="val 45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59560" y="2728912"/>
            <a:ext cx="2072580" cy="2238375"/>
          </a:xfrm>
          <a:prstGeom prst="roundRect">
            <a:avLst>
              <a:gd name="adj" fmla="val 45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284541" y="2728912"/>
            <a:ext cx="2072580" cy="2238375"/>
          </a:xfrm>
          <a:prstGeom prst="roundRect">
            <a:avLst>
              <a:gd name="adj" fmla="val 45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509521" y="2728912"/>
            <a:ext cx="2072580" cy="2238375"/>
          </a:xfrm>
          <a:prstGeom prst="roundRect">
            <a:avLst>
              <a:gd name="adj" fmla="val 45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9600" y="4957762"/>
            <a:ext cx="20725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" y="2728912"/>
            <a:ext cx="207258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" y="2728912"/>
            <a:ext cx="9525" cy="2238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672655" y="2728912"/>
            <a:ext cx="9525" cy="2238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9624" y="4613372"/>
            <a:ext cx="1381123" cy="153889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834580" y="4957762"/>
            <a:ext cx="20725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34580" y="2728912"/>
            <a:ext cx="207258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834580" y="2728912"/>
            <a:ext cx="9525" cy="2238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897635" y="2728912"/>
            <a:ext cx="9525" cy="2238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034605" y="4576762"/>
            <a:ext cx="1085850" cy="1905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59560" y="4957762"/>
            <a:ext cx="20725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59560" y="2728912"/>
            <a:ext cx="207258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59560" y="2728912"/>
            <a:ext cx="9525" cy="2238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122616" y="2728912"/>
            <a:ext cx="9525" cy="2238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259585" y="4576762"/>
            <a:ext cx="981075" cy="1905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284541" y="4957762"/>
            <a:ext cx="20725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284541" y="2728912"/>
            <a:ext cx="207258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284541" y="2728912"/>
            <a:ext cx="9525" cy="2238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347596" y="2728912"/>
            <a:ext cx="9525" cy="2238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484566" y="4576762"/>
            <a:ext cx="1009650" cy="1905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509521" y="4957762"/>
            <a:ext cx="20725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509521" y="2728912"/>
            <a:ext cx="207258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509521" y="2728912"/>
            <a:ext cx="9525" cy="2238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1572577" y="2728912"/>
            <a:ext cx="9525" cy="2238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728596" y="4612113"/>
            <a:ext cx="1076325" cy="1905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09600" y="457200"/>
            <a:ext cx="104612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284C7"/>
                </a:solidFill>
                <a:latin typeface="Aptos Display" panose="020B0004020202020204" pitchFamily="34" charset="0"/>
              </a:rPr>
              <a:t>MILESTONE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47700"/>
            <a:ext cx="3387338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Aptos Display" panose="020B0004020202020204" pitchFamily="34" charset="0"/>
              </a:rPr>
              <a:t>Design Justification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625" y="2957512"/>
            <a:ext cx="163756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3NF Normalization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625" y="3508176"/>
            <a:ext cx="1767780" cy="717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050" b="0" i="0" u="none">
                <a:solidFill>
                  <a:srgbClr val="64748B"/>
                </a:solidFill>
                <a:latin typeface="Aptos Display" panose="020B0004020202020204" pitchFamily="34" charset="0"/>
              </a:rPr>
              <a:t>Customer, restaurant, and menu catalogs separated into 3NF, eliminating modification anomalies.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1475" y="4605337"/>
            <a:ext cx="1314448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dirty="0">
                <a:solidFill>
                  <a:srgbClr val="0284C7"/>
                </a:solidFill>
                <a:latin typeface="Aptos Display" panose="020B0004020202020204" pitchFamily="34" charset="0"/>
              </a:rPr>
              <a:t>Reduced Redundancy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34605" y="2957512"/>
            <a:ext cx="1250663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PostGIS Types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34605" y="3503414"/>
            <a:ext cx="1767780" cy="727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050" b="0" i="0" u="none">
                <a:solidFill>
                  <a:srgbClr val="64748B"/>
                </a:solidFill>
                <a:latin typeface="Aptos Display" panose="020B0004020202020204" pitchFamily="34" charset="0"/>
              </a:rPr>
              <a:t>Native geometry types enable topological evaluation (ST_Contains) over raw float pairs.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82229" y="4605337"/>
            <a:ext cx="10287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rgbClr val="0284C7"/>
                </a:solidFill>
                <a:latin typeface="Aptos Display" panose="020B0004020202020204" pitchFamily="34" charset="0"/>
              </a:rPr>
              <a:t>Native Spatial Ops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59585" y="2957512"/>
            <a:ext cx="130997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Geodesic Math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9585" y="3418433"/>
            <a:ext cx="1767780" cy="707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050" b="0" i="0" u="none" dirty="0">
                <a:solidFill>
                  <a:srgbClr val="64748B"/>
                </a:solidFill>
                <a:latin typeface="Aptos Display" panose="020B0004020202020204" pitchFamily="34" charset="0"/>
              </a:rPr>
              <a:t>Casting geometry to geography avoids flat-plane distortion and yields accurate meters on WGS 84.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97685" y="4605337"/>
            <a:ext cx="105727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rgbClr val="0284C7"/>
                </a:solidFill>
                <a:latin typeface="Aptos Display" panose="020B0004020202020204" pitchFamily="34" charset="0"/>
              </a:rPr>
              <a:t>Metric Accuracy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84566" y="2957512"/>
            <a:ext cx="1708353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CHECK Constraints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84566" y="3508176"/>
            <a:ext cx="1767780" cy="351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413"/>
              </a:lnSpc>
            </a:pPr>
            <a:r>
              <a:rPr lang="en-US" sz="1050" dirty="0">
                <a:solidFill>
                  <a:srgbClr val="64748B"/>
                </a:solidFill>
                <a:latin typeface="Aptos Display" panose="020B0004020202020204" pitchFamily="34" charset="0"/>
              </a:rPr>
              <a:t>Restricts status values to the valid lifecycle-state domain.</a:t>
            </a:r>
            <a:endParaRPr sz="1050" dirty="0">
              <a:solidFill>
                <a:srgbClr val="64748B"/>
              </a:solidFill>
              <a:latin typeface="Aptos Display" panose="020B00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541716" y="4576762"/>
            <a:ext cx="9525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rgbClr val="0284C7"/>
                </a:solidFill>
                <a:latin typeface="Aptos Display" panose="020B0004020202020204" pitchFamily="34" charset="0"/>
              </a:rPr>
              <a:t>Domain Integrity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09546" y="2957512"/>
            <a:ext cx="153356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BIGINT Telemetry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09546" y="3508176"/>
            <a:ext cx="1767780" cy="527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050" b="0" i="0" u="none">
                <a:solidFill>
                  <a:srgbClr val="64748B"/>
                </a:solidFill>
                <a:latin typeface="Aptos Display" panose="020B0004020202020204" pitchFamily="34" charset="0"/>
              </a:rPr>
              <a:t>64-bit sequence IDs prevent key exhaustion on high-frequency streaming GPS tracking tables.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5746" y="4605337"/>
            <a:ext cx="101917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>
                <a:solidFill>
                  <a:srgbClr val="0284C7"/>
                </a:solidFill>
                <a:latin typeface="Aptos Display" panose="020B0004020202020204" pitchFamily="34" charset="0"/>
              </a:rPr>
              <a:t>Telemetry Scaling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0375"/>
            <a:ext cx="10972800" cy="3400425"/>
          </a:xfrm>
          <a:prstGeom prst="roundRect">
            <a:avLst>
              <a:gd name="adj" fmla="val 2801"/>
            </a:avLst>
          </a:prstGeom>
          <a:solidFill>
            <a:srgbClr val="090E1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09600" y="1314450"/>
            <a:ext cx="3530649" cy="1457325"/>
          </a:xfrm>
          <a:prstGeom prst="roundRect">
            <a:avLst>
              <a:gd name="adj" fmla="val 65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377575" y="1462087"/>
            <a:ext cx="3530649" cy="1457325"/>
          </a:xfrm>
          <a:prstGeom prst="roundRect">
            <a:avLst>
              <a:gd name="adj" fmla="val 65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145550" y="1341597"/>
            <a:ext cx="3530649" cy="1457325"/>
          </a:xfrm>
          <a:prstGeom prst="roundRect">
            <a:avLst>
              <a:gd name="adj" fmla="val 65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23925" y="4686300"/>
            <a:ext cx="1562100" cy="323850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590925" y="4686300"/>
            <a:ext cx="1409700" cy="323850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05525" y="4676775"/>
            <a:ext cx="1885950" cy="342900"/>
          </a:xfrm>
          <a:prstGeom prst="roundRect">
            <a:avLst>
              <a:gd name="adj" fmla="val 16666"/>
            </a:avLst>
          </a:prstGeom>
          <a:solidFill>
            <a:srgbClr val="1E293B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096375" y="4686300"/>
            <a:ext cx="2171700" cy="323850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ptos Display" panose="020B0004020202020204" pitchFamily="34" charset="0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250" y="1552575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1552575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8549" y="1552575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4772025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4772025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0" y="4772025"/>
            <a:ext cx="1333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74837" y="1666875"/>
            <a:ext cx="20002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1700" y="1666875"/>
            <a:ext cx="22860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4274" y="1666875"/>
            <a:ext cx="28575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457200"/>
            <a:ext cx="104612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284C7"/>
                </a:solidFill>
                <a:latin typeface="Aptos Display" panose="020B0004020202020204" pitchFamily="34" charset="0"/>
              </a:rPr>
              <a:t>MILESTONE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47700"/>
            <a:ext cx="5712526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Implementation Stack &amp;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" y="4381500"/>
            <a:ext cx="192681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Aptos Display" panose="020B0004020202020204" pitchFamily="34" charset="0"/>
              </a:rPr>
              <a:t>EXECUTION LIFECYCLE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2441" y="2124075"/>
            <a:ext cx="128496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PostgreSQL 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35940" y="2381250"/>
            <a:ext cx="147796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Aptos Display" panose="020B0004020202020204" pitchFamily="34" charset="0"/>
              </a:rPr>
              <a:t>Enterprise relational DBMS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88146" y="2124075"/>
            <a:ext cx="101585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PostGIS 3.3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5987" y="2381250"/>
            <a:ext cx="180017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 dirty="0">
                <a:solidFill>
                  <a:srgbClr val="64748B"/>
                </a:solidFill>
                <a:latin typeface="Aptos Display" panose="020B0004020202020204" pitchFamily="34" charset="0"/>
              </a:rPr>
              <a:t>Spatial extension &amp; </a:t>
            </a:r>
            <a:r>
              <a:rPr lang="en-IN" sz="1050" b="0" i="0" u="none" dirty="0" err="1">
                <a:solidFill>
                  <a:srgbClr val="64748B"/>
                </a:solidFill>
                <a:latin typeface="Aptos Display" panose="020B0004020202020204" pitchFamily="34" charset="0"/>
              </a:rPr>
              <a:t>GiST</a:t>
            </a:r>
            <a:r>
              <a:rPr sz="1050" b="0" i="0" u="none" dirty="0">
                <a:solidFill>
                  <a:srgbClr val="64748B"/>
                </a:solidFill>
                <a:latin typeface="Aptos Display" panose="020B0004020202020204" pitchFamily="34" charset="0"/>
              </a:rPr>
              <a:t> indexing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9343" y="2124075"/>
            <a:ext cx="137576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Docker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0149" y="2381250"/>
            <a:ext cx="157415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Aptos Display" panose="020B0004020202020204" pitchFamily="34" charset="0"/>
              </a:rPr>
              <a:t>postgis/postgis:15-3.3 image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7275" y="4762500"/>
            <a:ext cx="139065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u="none">
                <a:solidFill>
                  <a:srgbClr val="F8FAFC"/>
                </a:solidFill>
                <a:latin typeface="Aptos Display" panose="020B0004020202020204" pitchFamily="34" charset="0"/>
              </a:rPr>
              <a:t>sql/01_schema.sql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24275" y="4762500"/>
            <a:ext cx="123825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u="none">
                <a:solidFill>
                  <a:srgbClr val="F8FAFC"/>
                </a:solidFill>
                <a:latin typeface="Aptos Display" panose="020B0004020202020204" pitchFamily="34" charset="0"/>
              </a:rPr>
              <a:t>sql/02_seed.sql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8875" y="4752975"/>
            <a:ext cx="17145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u="none">
                <a:solidFill>
                  <a:srgbClr val="38BDF8"/>
                </a:solidFill>
                <a:latin typeface="Aptos Display" panose="020B0004020202020204" pitchFamily="34" charset="0"/>
              </a:rPr>
              <a:t>GiST &amp; B-Tree Indexes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9725" y="4762500"/>
            <a:ext cx="200025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u="none">
                <a:solidFill>
                  <a:srgbClr val="F8FAFC"/>
                </a:solidFill>
                <a:latin typeface="Aptos Display" panose="020B0004020202020204" pitchFamily="34" charset="0"/>
              </a:rPr>
              <a:t>Baseline Query Validation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95400"/>
            <a:ext cx="5372100" cy="5105400"/>
          </a:xfrm>
          <a:prstGeom prst="roundRect">
            <a:avLst>
              <a:gd name="adj" fmla="val 18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Aptos Display" panose="020B0004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210300" y="1295400"/>
            <a:ext cx="5372100" cy="5105400"/>
          </a:xfrm>
          <a:prstGeom prst="roundRect">
            <a:avLst>
              <a:gd name="adj" fmla="val 18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Aptos Display" panose="020B00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47725" y="1828800"/>
            <a:ext cx="4895850" cy="1905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Aptos Display" panose="020B0004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47725" y="2964060"/>
            <a:ext cx="4895850" cy="533400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Aptos Display" panose="020B00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47725" y="2964060"/>
            <a:ext cx="28575" cy="5334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Aptos Display" panose="020B00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48425" y="1828800"/>
            <a:ext cx="4895850" cy="1905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Aptos Display" panose="020B000402020202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48425" y="2964060"/>
            <a:ext cx="4895850" cy="38100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Aptos Display" panose="020B00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48425" y="2964060"/>
            <a:ext cx="28575" cy="381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Aptos Display" panose="020B00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04612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284C7"/>
                </a:solidFill>
                <a:latin typeface="Aptos Display" panose="020B0004020202020204" pitchFamily="34" charset="0"/>
              </a:rPr>
              <a:t>MILESTONE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47700"/>
            <a:ext cx="6145850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0F172A"/>
                </a:solidFill>
                <a:latin typeface="Aptos Display" panose="020B0004020202020204" pitchFamily="34" charset="0"/>
              </a:rPr>
              <a:t>Constraints &amp; Indexing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1533525"/>
            <a:ext cx="524065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0369A1"/>
                </a:solidFill>
                <a:latin typeface="Aptos Display" panose="020B0004020202020204" pitchFamily="34" charset="0"/>
              </a:rPr>
              <a:t>Relational 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1962150"/>
            <a:ext cx="49911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400" b="1" i="0" u="none" dirty="0">
                <a:solidFill>
                  <a:srgbClr val="0F172A"/>
                </a:solidFill>
                <a:latin typeface="Aptos Display" panose="020B0004020202020204" pitchFamily="34" charset="0"/>
              </a:rPr>
              <a:t>PRIMARY KEY:</a:t>
            </a:r>
            <a:r>
              <a:rPr sz="1400" b="0" i="0" u="none" dirty="0">
                <a:solidFill>
                  <a:srgbClr val="334155"/>
                </a:solidFill>
                <a:latin typeface="Aptos Display" panose="020B0004020202020204" pitchFamily="34" charset="0"/>
              </a:rPr>
              <a:t> Enforces entity uniqueness on order IDs, customer IDs, and trace IDs.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2463105"/>
            <a:ext cx="49911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400" b="1" i="0" u="none">
                <a:solidFill>
                  <a:srgbClr val="0F172A"/>
                </a:solidFill>
                <a:latin typeface="Aptos Display" panose="020B0004020202020204" pitchFamily="34" charset="0"/>
              </a:rPr>
              <a:t>FOREIGN KEY:</a:t>
            </a:r>
            <a:r>
              <a:rPr sz="1400" b="0" i="0" u="none">
                <a:solidFill>
                  <a:srgbClr val="334155"/>
                </a:solidFill>
                <a:latin typeface="Aptos Display" panose="020B0004020202020204" pitchFamily="34" charset="0"/>
              </a:rPr>
              <a:t> Referential integrity with </a:t>
            </a:r>
            <a:r>
              <a:rPr sz="1400" b="0" i="0" u="none">
                <a:solidFill>
                  <a:srgbClr val="0284C7"/>
                </a:solidFill>
                <a:latin typeface="Aptos Display" panose="020B0004020202020204" pitchFamily="34" charset="0"/>
              </a:rPr>
              <a:t>ON DELETE CASCADE</a:t>
            </a:r>
            <a:r>
              <a:rPr sz="1400" b="0" i="0" u="none">
                <a:solidFill>
                  <a:srgbClr val="334155"/>
                </a:solidFill>
                <a:latin typeface="Aptos Display" panose="020B0004020202020204" pitchFamily="34" charset="0"/>
              </a:rPr>
              <a:t> on order line items.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" y="3078360"/>
            <a:ext cx="47244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u="none">
                <a:solidFill>
                  <a:srgbClr val="0F172A"/>
                </a:solidFill>
                <a:latin typeface="Aptos Display" panose="020B0004020202020204" pitchFamily="34" charset="0"/>
              </a:rPr>
              <a:t>CHECK (status IN ('PENDING', 'PREPARING', 'IN_TRANSIT', 'DELIVERED', 'CANCELLED'))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1533525"/>
            <a:ext cx="524065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0369A1"/>
                </a:solidFill>
                <a:latin typeface="Aptos Display" panose="020B0004020202020204" pitchFamily="34" charset="0"/>
              </a:rPr>
              <a:t>Performance Indexing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1962150"/>
            <a:ext cx="49911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522"/>
              </a:lnSpc>
            </a:pPr>
            <a:r>
              <a:rPr sz="1400" b="1" dirty="0">
                <a:solidFill>
                  <a:srgbClr val="0F172A"/>
                </a:solidFill>
                <a:latin typeface="Aptos Display" panose="020B0004020202020204" pitchFamily="34" charset="0"/>
              </a:rPr>
              <a:t>SPATIAL (</a:t>
            </a:r>
            <a:r>
              <a:rPr sz="1400" b="1" dirty="0" err="1">
                <a:solidFill>
                  <a:srgbClr val="0F172A"/>
                </a:solidFill>
                <a:latin typeface="Aptos Display" panose="020B0004020202020204" pitchFamily="34" charset="0"/>
              </a:rPr>
              <a:t>GiST</a:t>
            </a:r>
            <a:r>
              <a:rPr sz="1400" b="1" dirty="0">
                <a:solidFill>
                  <a:srgbClr val="0F172A"/>
                </a:solidFill>
                <a:latin typeface="Aptos Display" panose="020B0004020202020204" pitchFamily="34" charset="0"/>
              </a:rPr>
              <a:t>): </a:t>
            </a:r>
            <a:r>
              <a:rPr sz="1400" dirty="0">
                <a:solidFill>
                  <a:srgbClr val="0F172A"/>
                </a:solidFill>
                <a:latin typeface="Aptos Display" panose="020B0004020202020204" pitchFamily="34" charset="0"/>
              </a:rPr>
              <a:t>Spatial indexes support boundary, restaurant, and telemetry-location queries</a:t>
            </a:r>
            <a:r>
              <a:rPr lang="en-IN" sz="1400" dirty="0">
                <a:solidFill>
                  <a:srgbClr val="0F172A"/>
                </a:solidFill>
                <a:latin typeface="Aptos Display" panose="020B0004020202020204" pitchFamily="34" charset="0"/>
              </a:rPr>
              <a:t>.</a:t>
            </a:r>
            <a:endParaRPr sz="1400" b="1" dirty="0">
              <a:solidFill>
                <a:srgbClr val="0F172A"/>
              </a:solidFill>
              <a:latin typeface="Aptos Display" panose="020B00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48425" y="2463105"/>
            <a:ext cx="49911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522"/>
              </a:lnSpc>
            </a:pPr>
            <a:r>
              <a:rPr sz="1400" b="1" dirty="0">
                <a:solidFill>
                  <a:srgbClr val="0F172A"/>
                </a:solidFill>
                <a:latin typeface="Aptos Display" panose="020B0004020202020204" pitchFamily="34" charset="0"/>
              </a:rPr>
              <a:t>TEMPORAL (B-Tree): </a:t>
            </a:r>
            <a:r>
              <a:rPr sz="1400" dirty="0">
                <a:solidFill>
                  <a:srgbClr val="0F172A"/>
                </a:solidFill>
                <a:latin typeface="Aptos Display" panose="020B0004020202020204" pitchFamily="34" charset="0"/>
              </a:rPr>
              <a:t>Composite index on </a:t>
            </a:r>
            <a:r>
              <a:rPr sz="1400" dirty="0" err="1">
                <a:solidFill>
                  <a:srgbClr val="0F172A"/>
                </a:solidFill>
                <a:latin typeface="Aptos Display" panose="020B0004020202020204" pitchFamily="34" charset="0"/>
              </a:rPr>
              <a:t>location_trace</a:t>
            </a:r>
            <a:r>
              <a:rPr sz="1400" dirty="0">
                <a:solidFill>
                  <a:srgbClr val="0F172A"/>
                </a:solidFill>
                <a:latin typeface="Aptos Display" panose="020B0004020202020204" pitchFamily="34" charset="0"/>
              </a:rPr>
              <a:t>(</a:t>
            </a:r>
            <a:r>
              <a:rPr sz="1400" dirty="0" err="1">
                <a:solidFill>
                  <a:srgbClr val="0F172A"/>
                </a:solidFill>
                <a:latin typeface="Aptos Display" panose="020B0004020202020204" pitchFamily="34" charset="0"/>
              </a:rPr>
              <a:t>driver_id</a:t>
            </a:r>
            <a:r>
              <a:rPr sz="1400" dirty="0">
                <a:solidFill>
                  <a:srgbClr val="0F172A"/>
                </a:solidFill>
                <a:latin typeface="Aptos Display" panose="020B0004020202020204" pitchFamily="34" charset="0"/>
              </a:rPr>
              <a:t>, </a:t>
            </a:r>
            <a:r>
              <a:rPr sz="1400" dirty="0" err="1">
                <a:solidFill>
                  <a:srgbClr val="0F172A"/>
                </a:solidFill>
                <a:latin typeface="Aptos Display" panose="020B0004020202020204" pitchFamily="34" charset="0"/>
              </a:rPr>
              <a:t>recorded_at</a:t>
            </a:r>
            <a:r>
              <a:rPr sz="1400" dirty="0">
                <a:solidFill>
                  <a:srgbClr val="0F172A"/>
                </a:solidFill>
                <a:latin typeface="Aptos Display" panose="020B0004020202020204" pitchFamily="34" charset="0"/>
              </a:rPr>
              <a:t>) for efficient driver time-window queries.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1775" y="3078360"/>
            <a:ext cx="4724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u="none">
                <a:solidFill>
                  <a:srgbClr val="0F172A"/>
                </a:solidFill>
                <a:latin typeface="Aptos Display" panose="020B0004020202020204" pitchFamily="34" charset="0"/>
              </a:rPr>
              <a:t>CREATE INDEX ON location_trace USING GIST(location);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10375"/>
            <a:ext cx="12192000" cy="476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>
              <a:latin typeface="Aptos Display" panose="020B0004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931177" y="2736030"/>
            <a:ext cx="533400" cy="28575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Aptos Display" panose="020B00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97220" y="1535280"/>
            <a:ext cx="480131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i="0" u="none" dirty="0">
                <a:solidFill>
                  <a:srgbClr val="38BDF8"/>
                </a:solidFill>
                <a:latin typeface="Aptos Display" panose="020B0004020202020204" pitchFamily="34" charset="0"/>
              </a:rPr>
              <a:t>CS G516 • ADVANCED DATABASE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9356" y="2076373"/>
            <a:ext cx="2998963" cy="6534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784"/>
              </a:lnSpc>
            </a:pPr>
            <a:r>
              <a:rPr sz="5400" b="1" i="0" u="none" dirty="0">
                <a:solidFill>
                  <a:srgbClr val="FFFFFF"/>
                </a:solidFill>
                <a:latin typeface="Aptos Display" panose="020B0004020202020204" pitchFamily="34" charset="0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8396" y="2927959"/>
            <a:ext cx="319805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 u="none" dirty="0">
                <a:solidFill>
                  <a:srgbClr val="F1F5F9"/>
                </a:solidFill>
                <a:latin typeface="Aptos Display" panose="020B0004020202020204" pitchFamily="34" charset="0"/>
              </a:rPr>
              <a:t>Campus Food Delivery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8856" y="3348230"/>
            <a:ext cx="521713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0" i="0" u="none" dirty="0">
                <a:solidFill>
                  <a:srgbClr val="38BDF8"/>
                </a:solidFill>
                <a:latin typeface="Aptos Display" panose="020B0004020202020204" pitchFamily="34" charset="0"/>
              </a:rPr>
              <a:t>A </a:t>
            </a:r>
            <a:r>
              <a:rPr b="0" i="0" u="none" dirty="0" err="1">
                <a:solidFill>
                  <a:srgbClr val="38BDF8"/>
                </a:solidFill>
                <a:latin typeface="Aptos Display" panose="020B0004020202020204" pitchFamily="34" charset="0"/>
              </a:rPr>
              <a:t>Spatio</a:t>
            </a:r>
            <a:r>
              <a:rPr b="0" i="0" u="none" dirty="0">
                <a:solidFill>
                  <a:srgbClr val="38BDF8"/>
                </a:solidFill>
                <a:latin typeface="Aptos Display" panose="020B0004020202020204" pitchFamily="34" charset="0"/>
              </a:rPr>
              <a:t>-Temporal Campus Order &amp; Telemetry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8776" y="4051908"/>
            <a:ext cx="533729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0" i="0" u="none" dirty="0">
                <a:solidFill>
                  <a:srgbClr val="64748B"/>
                </a:solidFill>
                <a:latin typeface="Aptos Display" panose="020B0004020202020204" pitchFamily="34" charset="0"/>
              </a:rPr>
              <a:t>Team Members: </a:t>
            </a:r>
            <a:r>
              <a:rPr lang="en-IN" sz="2000" b="1" dirty="0">
                <a:solidFill>
                  <a:srgbClr val="CBD5E1"/>
                </a:solidFill>
                <a:latin typeface="Aptos Display" panose="020B0004020202020204" pitchFamily="34" charset="0"/>
              </a:rPr>
              <a:t>Vatsal</a:t>
            </a:r>
            <a:r>
              <a:rPr sz="2000" b="1" i="0" u="none" dirty="0">
                <a:solidFill>
                  <a:srgbClr val="CBD5E1"/>
                </a:solidFill>
                <a:latin typeface="Aptos Display" panose="020B0004020202020204" pitchFamily="34" charset="0"/>
              </a:rPr>
              <a:t> • Chirantan • Sajal • </a:t>
            </a:r>
            <a:r>
              <a:rPr lang="en-IN" sz="2000" b="1" i="0" u="none" dirty="0">
                <a:solidFill>
                  <a:srgbClr val="CBD5E1"/>
                </a:solidFill>
                <a:latin typeface="Aptos Display" panose="020B0004020202020204" pitchFamily="34" charset="0"/>
              </a:rPr>
              <a:t>Ayush</a:t>
            </a:r>
            <a:endParaRPr sz="2000" b="1" i="0" u="none" dirty="0">
              <a:solidFill>
                <a:srgbClr val="CBD5E1"/>
              </a:solidFill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1518</Words>
  <Application>Microsoft Office PowerPoint</Application>
  <PresentationFormat>Widescreen</PresentationFormat>
  <Paragraphs>243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 Display</vt:lpstr>
      <vt:lpstr>Calibri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Chirantan Ghosh</cp:lastModifiedBy>
  <cp:revision>13</cp:revision>
  <dcterms:created xsi:type="dcterms:W3CDTF">2013-01-27T09:14:16Z</dcterms:created>
  <dcterms:modified xsi:type="dcterms:W3CDTF">2026-10-14T06:34:48Z</dcterms:modified>
  <cp:category/>
</cp:coreProperties>
</file>